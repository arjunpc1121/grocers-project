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70" r:id="rId12"/>
    <p:sldId id="269" r:id="rId13"/>
    <p:sldId id="271" r:id="rId14"/>
    <p:sldId id="265" r:id="rId15"/>
    <p:sldId id="266" r:id="rId16"/>
    <p:sldId id="26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9" d="100"/>
          <a:sy n="69" d="100"/>
        </p:scale>
        <p:origin x="54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Project-Grocers.pdf, page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Project-Grocers.pdf, page 1 and page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Project-Grocers.pdf, pages 3-8.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Project-Grocers.pdf, pages 5-7.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Project-Grocers.pdf, pages 3-4.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Project-Grocers.pdf, pages 7-8.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Project-Grocers.pdf, page 1. Architecture is a proposed implementation based on the stated technology requirements.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Project-Grocers.pdf, pages 3-8.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Project-Grocers.pdf, pages 1 and 8. Delivery sequence is a proposed presentation summary.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D507D-4532-EDA5-E645-9899FD168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1EB14C-0DD2-71A7-49A4-ACDA70EB14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F1A4AC-DCD6-0387-E8A5-9B7E6DC9FE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Project-Grocers.pdf, pages 1 and 8. Delivery sequence is a proposed presentation summary.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851B2E-C5D2-35CD-AD55-9462E456B4C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648100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D0343-36CD-14FC-2F4E-13CBB045D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D4F811-B0A5-10DF-E700-F89D5D4214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F933C3-D39D-207E-511A-3F5589FAD9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Project-Grocers.pdf, pages 1 and 8. Delivery sequence is a proposed presentation summary.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3625EB-6FF3-0C3A-D0BA-68E94676551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772354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DEFAE-EF60-E513-8BD4-67BEA17B4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6AE743-D6BC-7B93-3FD6-4E6A190253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A2D71A-6F3E-D3C0-4A66-2F2D345F59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Project-Grocers.pdf, pages 1 and 8. Delivery sequence is a proposed presentation summary.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C8E023-A887-65F4-23F9-7A554738C2C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19315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0ECBB8-747E-FA1B-0869-54175B7DF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4C162B-93CB-8A07-1300-8FCA3669F8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70FECB-586F-BD46-2004-C2CB01F8E9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Project-Grocers.pdf, page 1 and page 8.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2CB0DE-66F8-6AF2-30B3-24EF239B8C2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272649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19D2736-1F1D-3010-7F82-8F936B905D4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27098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Confidential - Oracle Restricted \Employees Only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8E8ED3-3D5F-0774-4820-032C59A86DC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27098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Confidential - Oracle Restricted \Employees Only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10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093003D-E680-4E88-A528-7A0A9FB6A7CF}"/>
              </a:ext>
            </a:extLst>
          </p:cNvPr>
          <p:cNvSpPr>
            <a:spLocks noGrp="1"/>
          </p:cNvSpPr>
          <p:nvPr/>
        </p:nvSpPr>
        <p:spPr>
          <a:xfrm>
            <a:off x="0" y="27524"/>
            <a:ext cx="12192000" cy="6858000"/>
          </a:xfrm>
          <a:prstGeom prst="rect">
            <a:avLst/>
          </a:prstGeom>
          <a:solidFill>
            <a:srgbClr val="3B1012"/>
          </a:solidFill>
          <a:ln w="0"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034D749-0445-46F4-897F-E5D657EC9BD3}"/>
              </a:ext>
            </a:extLst>
          </p:cNvPr>
          <p:cNvSpPr>
            <a:spLocks noGrp="1"/>
          </p:cNvSpPr>
          <p:nvPr/>
        </p:nvSpPr>
        <p:spPr>
          <a:xfrm>
            <a:off x="685800" y="981075"/>
            <a:ext cx="800100" cy="47625"/>
          </a:xfrm>
          <a:prstGeom prst="rect">
            <a:avLst/>
          </a:prstGeom>
          <a:solidFill>
            <a:srgbClr val="C74634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974A462-F4A3-425F-B709-537AB31E4548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6667500" cy="628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917"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GROCERS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2D3241-010F-4B6D-94C1-D666250A0BE9}"/>
              </a:ext>
            </a:extLst>
          </p:cNvPr>
          <p:cNvSpPr>
            <a:spLocks noGrp="1"/>
          </p:cNvSpPr>
          <p:nvPr/>
        </p:nvSpPr>
        <p:spPr>
          <a:xfrm>
            <a:off x="685800" y="2114550"/>
            <a:ext cx="56197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927"/>
          </a:bodyPr>
          <a:lstStyle/>
          <a:p>
            <a:pPr>
              <a:defRPr sz="1725" b="0">
                <a:solidFill>
                  <a:srgbClr val="F2DDD7"/>
                </a:solidFill>
                <a:latin typeface="Arial"/>
                <a:ea typeface="Arial"/>
                <a:cs typeface="Arial"/>
              </a:defRPr>
            </a:pPr>
            <a:r>
              <a:rPr sz="1725" b="0" dirty="0">
                <a:solidFill>
                  <a:srgbClr val="F2DDD7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A web application for grocery shopping, inventory control, and order operations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73851A6-7C7A-4388-B508-2E17C96A7DDE}"/>
              </a:ext>
            </a:extLst>
          </p:cNvPr>
          <p:cNvSpPr>
            <a:spLocks noGrp="1"/>
          </p:cNvSpPr>
          <p:nvPr/>
        </p:nvSpPr>
        <p:spPr>
          <a:xfrm>
            <a:off x="685799" y="3209925"/>
            <a:ext cx="3008745" cy="36454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dirty="0">
                <a:solidFill>
                  <a:srgbClr val="FFFFF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Project Presentation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1E4552-DD78-4C4B-AD24-A6668C330234}"/>
              </a:ext>
            </a:extLst>
          </p:cNvPr>
          <p:cNvSpPr>
            <a:spLocks noGrp="1"/>
          </p:cNvSpPr>
          <p:nvPr/>
        </p:nvSpPr>
        <p:spPr>
          <a:xfrm>
            <a:off x="685800" y="4438650"/>
            <a:ext cx="3714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125" b="0">
                <a:solidFill>
                  <a:srgbClr val="F2DDD7"/>
                </a:solidFill>
                <a:latin typeface="Arial"/>
                <a:ea typeface="Arial"/>
                <a:cs typeface="Arial"/>
              </a:defRPr>
            </a:pPr>
            <a:endParaRPr lang="en-IN" sz="1600" b="0" dirty="0">
              <a:solidFill>
                <a:srgbClr val="F2DDD7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  <a:p>
            <a:pPr>
              <a:defRPr sz="1125" b="0">
                <a:solidFill>
                  <a:srgbClr val="F2DDD7"/>
                </a:solidFill>
                <a:latin typeface="Arial"/>
                <a:ea typeface="Arial"/>
                <a:cs typeface="Arial"/>
              </a:defRPr>
            </a:pPr>
            <a:r>
              <a:rPr lang="en-IN" sz="1600" b="0" dirty="0">
                <a:solidFill>
                  <a:srgbClr val="F2DDD7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Batch 13 - </a:t>
            </a:r>
            <a:r>
              <a:rPr sz="1600" b="0" dirty="0">
                <a:solidFill>
                  <a:srgbClr val="F2DDD7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Team 1 </a:t>
            </a:r>
            <a:r>
              <a:rPr lang="en-IN" sz="1600" b="0" dirty="0">
                <a:solidFill>
                  <a:srgbClr val="F2DDD7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:</a:t>
            </a:r>
            <a:r>
              <a:rPr sz="1600" b="0" dirty="0">
                <a:solidFill>
                  <a:srgbClr val="F2DDD7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 </a:t>
            </a:r>
            <a:endParaRPr lang="en-IN" sz="1600" b="0" dirty="0">
              <a:solidFill>
                <a:srgbClr val="F2DDD7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 sz="1125" b="0">
                <a:solidFill>
                  <a:srgbClr val="F2DDD7"/>
                </a:solidFill>
                <a:latin typeface="Arial"/>
                <a:ea typeface="Arial"/>
                <a:cs typeface="Arial"/>
              </a:defRPr>
            </a:pPr>
            <a:r>
              <a:rPr lang="en-IN" sz="1600" dirty="0">
                <a:solidFill>
                  <a:srgbClr val="F2DDD7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Akash S.S</a:t>
            </a:r>
          </a:p>
          <a:p>
            <a:pPr marL="285750" indent="-285750">
              <a:buFont typeface="Arial" panose="020B0604020202020204" pitchFamily="34" charset="0"/>
              <a:buChar char="•"/>
              <a:defRPr sz="1125" b="0">
                <a:solidFill>
                  <a:srgbClr val="F2DDD7"/>
                </a:solidFill>
                <a:latin typeface="Arial"/>
                <a:ea typeface="Arial"/>
                <a:cs typeface="Arial"/>
              </a:defRPr>
            </a:pPr>
            <a:r>
              <a:rPr lang="en-IN" sz="1600" b="0" dirty="0">
                <a:solidFill>
                  <a:srgbClr val="F2DDD7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Arjun P Chandra</a:t>
            </a:r>
          </a:p>
          <a:p>
            <a:pPr marL="285750" indent="-285750">
              <a:buFont typeface="Arial" panose="020B0604020202020204" pitchFamily="34" charset="0"/>
              <a:buChar char="•"/>
              <a:defRPr sz="1125" b="0">
                <a:solidFill>
                  <a:srgbClr val="F2DDD7"/>
                </a:solidFill>
                <a:latin typeface="Arial"/>
                <a:ea typeface="Arial"/>
                <a:cs typeface="Arial"/>
              </a:defRPr>
            </a:pPr>
            <a:r>
              <a:rPr lang="en-IN" sz="1600" dirty="0">
                <a:solidFill>
                  <a:srgbClr val="F2DDD7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K Abhiram</a:t>
            </a:r>
          </a:p>
          <a:p>
            <a:pPr marL="285750" indent="-285750">
              <a:buFont typeface="Arial" panose="020B0604020202020204" pitchFamily="34" charset="0"/>
              <a:buChar char="•"/>
              <a:defRPr sz="1125" b="0">
                <a:solidFill>
                  <a:srgbClr val="F2DDD7"/>
                </a:solidFill>
                <a:latin typeface="Arial"/>
                <a:ea typeface="Arial"/>
                <a:cs typeface="Arial"/>
              </a:defRPr>
            </a:pPr>
            <a:r>
              <a:rPr lang="en-IN" sz="1600" b="0" dirty="0">
                <a:solidFill>
                  <a:srgbClr val="F2DDD7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Pragathi Sanjeev Achar</a:t>
            </a:r>
          </a:p>
          <a:p>
            <a:pPr marL="285750" indent="-285750">
              <a:buFont typeface="Arial" panose="020B0604020202020204" pitchFamily="34" charset="0"/>
              <a:buChar char="•"/>
              <a:defRPr sz="1125" b="0">
                <a:solidFill>
                  <a:srgbClr val="F2DDD7"/>
                </a:solidFill>
                <a:latin typeface="Arial"/>
                <a:ea typeface="Arial"/>
                <a:cs typeface="Arial"/>
              </a:defRPr>
            </a:pPr>
            <a:r>
              <a:rPr lang="en-IN" sz="1600" dirty="0">
                <a:solidFill>
                  <a:srgbClr val="F2DDD7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Pranav Patil</a:t>
            </a:r>
          </a:p>
          <a:p>
            <a:pPr marL="285750" indent="-285750">
              <a:buFont typeface="Arial" panose="020B0604020202020204" pitchFamily="34" charset="0"/>
              <a:buChar char="•"/>
              <a:defRPr sz="1125" b="0">
                <a:solidFill>
                  <a:srgbClr val="F2DDD7"/>
                </a:solidFill>
                <a:latin typeface="Arial"/>
                <a:ea typeface="Arial"/>
                <a:cs typeface="Arial"/>
              </a:defRPr>
            </a:pPr>
            <a:endParaRPr lang="en-IN" sz="1600" b="0" dirty="0">
              <a:solidFill>
                <a:srgbClr val="F2DDD7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 sz="1125" b="0">
                <a:solidFill>
                  <a:srgbClr val="F2DDD7"/>
                </a:solidFill>
                <a:latin typeface="Arial"/>
                <a:ea typeface="Arial"/>
                <a:cs typeface="Arial"/>
              </a:defRPr>
            </a:pPr>
            <a:endParaRPr lang="en-IN" sz="1600" b="0" dirty="0">
              <a:solidFill>
                <a:srgbClr val="F2DDD7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  <a:p>
            <a:pPr>
              <a:defRPr sz="1125" b="0">
                <a:solidFill>
                  <a:srgbClr val="F2DDD7"/>
                </a:solidFill>
                <a:latin typeface="Arial"/>
                <a:ea typeface="Arial"/>
                <a:cs typeface="Arial"/>
              </a:defRPr>
            </a:pPr>
            <a:r>
              <a:rPr sz="1600" b="0" dirty="0">
                <a:solidFill>
                  <a:srgbClr val="F2DDD7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September 2026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9961FA-EA87-48FB-8672-E34B6E02A6AF}"/>
              </a:ext>
            </a:extLst>
          </p:cNvPr>
          <p:cNvSpPr>
            <a:spLocks noGrp="1"/>
          </p:cNvSpPr>
          <p:nvPr/>
        </p:nvSpPr>
        <p:spPr>
          <a:xfrm>
            <a:off x="8220075" y="2457450"/>
            <a:ext cx="22098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976" lnSpcReduction="10000"/>
          </a:bodyPr>
          <a:lstStyle/>
          <a:p>
            <a:pPr>
              <a:defRPr sz="2100" b="1">
                <a:solidFill>
                  <a:srgbClr val="3B101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B1012"/>
                </a:solidFill>
                <a:latin typeface="Arial"/>
                <a:ea typeface="Arial"/>
                <a:cs typeface="Arial"/>
              </a:rPr>
              <a:t>GROCERS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DEA2A28-F771-4E0B-B3BA-A13BF53CE993}"/>
              </a:ext>
            </a:extLst>
          </p:cNvPr>
          <p:cNvSpPr>
            <a:spLocks noGrp="1"/>
          </p:cNvSpPr>
          <p:nvPr/>
        </p:nvSpPr>
        <p:spPr>
          <a:xfrm>
            <a:off x="7560543" y="4152900"/>
            <a:ext cx="5010150" cy="800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9722"/>
          </a:bodyPr>
          <a:lstStyle/>
          <a:p>
            <a:pPr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FFFFF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Fresh orders</a:t>
            </a:r>
            <a:r>
              <a:rPr lang="en-IN" sz="1500" b="1" dirty="0">
                <a:solidFill>
                  <a:srgbClr val="FFFFF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- </a:t>
            </a:r>
            <a:r>
              <a:rPr sz="1500" b="1" dirty="0">
                <a:solidFill>
                  <a:srgbClr val="FFFFF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Clear operations</a:t>
            </a:r>
            <a:r>
              <a:rPr lang="en-IN" sz="1500" b="1" dirty="0">
                <a:solidFill>
                  <a:srgbClr val="FFFFF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- </a:t>
            </a:r>
            <a:r>
              <a:rPr sz="1500" b="1" dirty="0">
                <a:solidFill>
                  <a:srgbClr val="FFFFF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Reliable fulfillment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51E97C4-3621-45F2-8365-868769D3DD2D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2857500" cy="133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36667" lnSpcReduction="10000"/>
          </a:bodyPr>
          <a:lstStyle/>
          <a:p>
            <a:pPr>
              <a:defRPr sz="750" b="0">
                <a:solidFill>
                  <a:srgbClr val="F2DDD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2DDD7"/>
                </a:solidFill>
                <a:latin typeface="Arial"/>
                <a:ea typeface="Arial"/>
                <a:cs typeface="Arial"/>
              </a:rPr>
              <a:t>Source: Project-Grocers.pdf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17275F3-0565-CE5F-38A0-5285613DC4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9238" y="5395723"/>
            <a:ext cx="3776807" cy="212445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C4F1E51-9FE2-4FE4-2EA7-2F84AAA09F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0054" y="1274041"/>
            <a:ext cx="3393209" cy="3393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957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DCACA377-FBFC-4AB2-93D1-BF91A8F89D6E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523875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5833" lnSpcReduction="20000"/>
          </a:bodyPr>
          <a:lstStyle/>
          <a:p>
            <a:pPr>
              <a:defRPr sz="9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ONLINE GROCERS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CAB2BD9-7675-4C5C-BEB7-125EEFCE9F65}"/>
              </a:ext>
            </a:extLst>
          </p:cNvPr>
          <p:cNvSpPr>
            <a:spLocks noGrp="1"/>
          </p:cNvSpPr>
          <p:nvPr/>
        </p:nvSpPr>
        <p:spPr>
          <a:xfrm>
            <a:off x="685800" y="657225"/>
            <a:ext cx="101917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400" b="1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A1716"/>
                </a:solidFill>
                <a:latin typeface="Arial"/>
                <a:ea typeface="Arial"/>
                <a:cs typeface="Arial"/>
              </a:rPr>
              <a:t>Project Overview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925DE8E-7A3B-4BE5-8B26-80930678956A}"/>
              </a:ext>
            </a:extLst>
          </p:cNvPr>
          <p:cNvSpPr>
            <a:spLocks noGrp="1"/>
          </p:cNvSpPr>
          <p:nvPr/>
        </p:nvSpPr>
        <p:spPr>
          <a:xfrm>
            <a:off x="685800" y="1276350"/>
            <a:ext cx="666750" cy="38100"/>
          </a:xfrm>
          <a:prstGeom prst="rect">
            <a:avLst/>
          </a:prstGeom>
          <a:solidFill>
            <a:srgbClr val="C74634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10F6F24-21AA-48AE-87CB-E57AF013E11E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905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444" lnSpcReduction="10000"/>
          </a:bodyPr>
          <a:lstStyle/>
          <a:p>
            <a:pPr>
              <a:defRPr sz="13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Objective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4021F3-EE93-418E-B059-C3218C3822F8}"/>
              </a:ext>
            </a:extLst>
          </p:cNvPr>
          <p:cNvSpPr>
            <a:spLocks noGrp="1"/>
          </p:cNvSpPr>
          <p:nvPr/>
        </p:nvSpPr>
        <p:spPr>
          <a:xfrm>
            <a:off x="685800" y="2114550"/>
            <a:ext cx="4572000" cy="857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056" lnSpcReduction="10000"/>
          </a:bodyPr>
          <a:lstStyle/>
          <a:p>
            <a:pPr>
              <a:defRPr sz="1800" b="1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A1716"/>
                </a:solidFill>
                <a:latin typeface="Arial"/>
                <a:ea typeface="Arial"/>
                <a:cs typeface="Arial"/>
              </a:rPr>
              <a:t>Create a dynamic online grocery platform that supports purchasing, administration, and inventory operations.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613A7D-0C37-4280-9DDE-440AEC46F665}"/>
              </a:ext>
            </a:extLst>
          </p:cNvPr>
          <p:cNvSpPr>
            <a:spLocks noGrp="1"/>
          </p:cNvSpPr>
          <p:nvPr/>
        </p:nvSpPr>
        <p:spPr>
          <a:xfrm>
            <a:off x="6238875" y="1676400"/>
            <a:ext cx="4572000" cy="2952750"/>
          </a:xfrm>
          <a:prstGeom prst="rect">
            <a:avLst/>
          </a:prstGeom>
          <a:solidFill>
            <a:srgbClr val="F6F1EC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212EBC-DE80-4228-B3CD-FEF4FE66AF09}"/>
              </a:ext>
            </a:extLst>
          </p:cNvPr>
          <p:cNvSpPr>
            <a:spLocks noGrp="1"/>
          </p:cNvSpPr>
          <p:nvPr/>
        </p:nvSpPr>
        <p:spPr>
          <a:xfrm>
            <a:off x="6591300" y="2000250"/>
            <a:ext cx="2286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1667" lnSpcReduction="20000"/>
          </a:bodyPr>
          <a:lstStyle/>
          <a:p>
            <a:pPr>
              <a:defRPr sz="13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Core scope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6EFCAB0-8254-4B77-B1EC-83C46E579332}"/>
              </a:ext>
            </a:extLst>
          </p:cNvPr>
          <p:cNvSpPr>
            <a:spLocks noGrp="1"/>
          </p:cNvSpPr>
          <p:nvPr/>
        </p:nvSpPr>
        <p:spPr>
          <a:xfrm>
            <a:off x="6591300" y="2486025"/>
            <a:ext cx="76200" cy="76200"/>
          </a:xfrm>
          <a:prstGeom prst="ellipse">
            <a:avLst/>
          </a:prstGeom>
          <a:solidFill>
            <a:srgbClr val="C74634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4E1AC3-4AE3-4EC8-A63A-A36553C55C46}"/>
              </a:ext>
            </a:extLst>
          </p:cNvPr>
          <p:cNvSpPr>
            <a:spLocks noGrp="1"/>
          </p:cNvSpPr>
          <p:nvPr/>
        </p:nvSpPr>
        <p:spPr>
          <a:xfrm>
            <a:off x="6781800" y="2400300"/>
            <a:ext cx="34766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A1716"/>
                </a:solidFill>
                <a:latin typeface="Arial"/>
                <a:ea typeface="Arial"/>
                <a:cs typeface="Arial"/>
              </a:rPr>
              <a:t>REST APIs with a modern web frontend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153C8AF-1BEF-49A7-820E-75A160114419}"/>
              </a:ext>
            </a:extLst>
          </p:cNvPr>
          <p:cNvSpPr>
            <a:spLocks noGrp="1"/>
          </p:cNvSpPr>
          <p:nvPr/>
        </p:nvSpPr>
        <p:spPr>
          <a:xfrm>
            <a:off x="6591300" y="2943225"/>
            <a:ext cx="76200" cy="76200"/>
          </a:xfrm>
          <a:prstGeom prst="ellipse">
            <a:avLst/>
          </a:prstGeom>
          <a:solidFill>
            <a:srgbClr val="C74634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A4397EF-65A7-42EC-BC28-ACCD75858345}"/>
              </a:ext>
            </a:extLst>
          </p:cNvPr>
          <p:cNvSpPr>
            <a:spLocks noGrp="1"/>
          </p:cNvSpPr>
          <p:nvPr/>
        </p:nvSpPr>
        <p:spPr>
          <a:xfrm>
            <a:off x="6781800" y="2857500"/>
            <a:ext cx="34766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A1716"/>
                </a:solidFill>
                <a:latin typeface="Arial"/>
                <a:ea typeface="Arial"/>
                <a:cs typeface="Arial"/>
              </a:rPr>
              <a:t>Admin, User, and Employee portals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393951E-D605-467D-B57C-30ABAD1872EC}"/>
              </a:ext>
            </a:extLst>
          </p:cNvPr>
          <p:cNvSpPr>
            <a:spLocks noGrp="1"/>
          </p:cNvSpPr>
          <p:nvPr/>
        </p:nvSpPr>
        <p:spPr>
          <a:xfrm>
            <a:off x="6591300" y="3400425"/>
            <a:ext cx="76200" cy="76200"/>
          </a:xfrm>
          <a:prstGeom prst="ellipse">
            <a:avLst/>
          </a:prstGeom>
          <a:solidFill>
            <a:srgbClr val="C74634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AFD9187-1B08-4FA9-A8E1-D2B8C603B0D2}"/>
              </a:ext>
            </a:extLst>
          </p:cNvPr>
          <p:cNvSpPr>
            <a:spLocks noGrp="1"/>
          </p:cNvSpPr>
          <p:nvPr/>
        </p:nvSpPr>
        <p:spPr>
          <a:xfrm>
            <a:off x="6781800" y="3314700"/>
            <a:ext cx="34766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0003" lnSpcReduction="20000"/>
          </a:bodyPr>
          <a:lstStyle/>
          <a:p>
            <a:pPr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A1716"/>
                </a:solidFill>
                <a:latin typeface="Arial"/>
                <a:ea typeface="Arial"/>
                <a:cs typeface="Arial"/>
              </a:rPr>
              <a:t>Database-backed products, accounts, orders, and requests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654A6B0-18A9-4930-95FD-BAF7969CF471}"/>
              </a:ext>
            </a:extLst>
          </p:cNvPr>
          <p:cNvSpPr>
            <a:spLocks noGrp="1"/>
          </p:cNvSpPr>
          <p:nvPr/>
        </p:nvSpPr>
        <p:spPr>
          <a:xfrm>
            <a:off x="6591300" y="3857625"/>
            <a:ext cx="76200" cy="76200"/>
          </a:xfrm>
          <a:prstGeom prst="ellipse">
            <a:avLst/>
          </a:prstGeom>
          <a:solidFill>
            <a:srgbClr val="C74634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4DD3B81-0C6D-4B0A-A976-0C48AA1E22F7}"/>
              </a:ext>
            </a:extLst>
          </p:cNvPr>
          <p:cNvSpPr>
            <a:spLocks noGrp="1"/>
          </p:cNvSpPr>
          <p:nvPr/>
        </p:nvSpPr>
        <p:spPr>
          <a:xfrm>
            <a:off x="6781800" y="3771900"/>
            <a:ext cx="34766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A1716"/>
                </a:solidFill>
                <a:latin typeface="Arial"/>
                <a:ea typeface="Arial"/>
                <a:cs typeface="Arial"/>
              </a:rPr>
              <a:t>Single-page experience after sign-in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50D3E38-F0CC-4ACA-94E7-A6F9886BF7EE}"/>
              </a:ext>
            </a:extLst>
          </p:cNvPr>
          <p:cNvSpPr>
            <a:spLocks noGrp="1"/>
          </p:cNvSpPr>
          <p:nvPr/>
        </p:nvSpPr>
        <p:spPr>
          <a:xfrm>
            <a:off x="685800" y="4410075"/>
            <a:ext cx="2667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1667" lnSpcReduction="20000"/>
          </a:bodyPr>
          <a:lstStyle/>
          <a:p>
            <a:pPr>
              <a:defRPr sz="13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Suggested technology stack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D1A2F41-45BC-4262-B3DB-FF3146B6D40D}"/>
              </a:ext>
            </a:extLst>
          </p:cNvPr>
          <p:cNvSpPr>
            <a:spLocks noGrp="1"/>
          </p:cNvSpPr>
          <p:nvPr/>
        </p:nvSpPr>
        <p:spPr>
          <a:xfrm>
            <a:off x="685800" y="4819650"/>
            <a:ext cx="9906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500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1A1716"/>
                </a:solidFill>
                <a:latin typeface="Arial"/>
                <a:ea typeface="Arial"/>
                <a:cs typeface="Arial"/>
              </a:rPr>
              <a:t>Spring Boot or JAX-RS  /  React.js or Angular /  Database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22369C5-5025-4CDC-B44E-70B0D914420E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810000" cy="152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0833" lnSpcReduction="20000"/>
          </a:bodyPr>
          <a:lstStyle/>
          <a:p>
            <a:pPr>
              <a:defRPr sz="750" b="0">
                <a:solidFill>
                  <a:srgbClr val="5D585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5854"/>
                </a:solidFill>
                <a:latin typeface="Arial"/>
                <a:ea typeface="Arial"/>
                <a:cs typeface="Arial"/>
              </a:rPr>
              <a:t>Grocers Project  |  Team 1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B9CE1AB-BA47-49DF-9152-6958375F785B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57200" cy="152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0833" lnSpcReduction="20000"/>
          </a:bodyPr>
          <a:lstStyle/>
          <a:p>
            <a:pPr>
              <a:defRPr sz="750" b="1">
                <a:solidFill>
                  <a:srgbClr val="5D5854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D585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308174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B5386290-989A-445E-B766-1AB96A782B26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523875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5833" lnSpcReduction="10000"/>
          </a:bodyPr>
          <a:lstStyle/>
          <a:p>
            <a:pPr>
              <a:defRPr sz="9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ONLINE GROCERS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CD27427-58DD-4B6A-ABDE-4F3FF610F96F}"/>
              </a:ext>
            </a:extLst>
          </p:cNvPr>
          <p:cNvSpPr>
            <a:spLocks noGrp="1"/>
          </p:cNvSpPr>
          <p:nvPr/>
        </p:nvSpPr>
        <p:spPr>
          <a:xfrm>
            <a:off x="685800" y="657225"/>
            <a:ext cx="101917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400" b="1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A1716"/>
                </a:solidFill>
                <a:latin typeface="Arial"/>
                <a:ea typeface="Arial"/>
                <a:cs typeface="Arial"/>
              </a:rPr>
              <a:t>Platform Roles and Responsibilities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221654-2DBF-4424-A665-0FA2FACF3BF0}"/>
              </a:ext>
            </a:extLst>
          </p:cNvPr>
          <p:cNvSpPr>
            <a:spLocks noGrp="1"/>
          </p:cNvSpPr>
          <p:nvPr/>
        </p:nvSpPr>
        <p:spPr>
          <a:xfrm>
            <a:off x="685800" y="1276350"/>
            <a:ext cx="666750" cy="38100"/>
          </a:xfrm>
          <a:prstGeom prst="rect">
            <a:avLst/>
          </a:prstGeom>
          <a:solidFill>
            <a:srgbClr val="C74634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7C49F2-82E8-4F0B-9D05-D3E6149741D9}"/>
              </a:ext>
            </a:extLst>
          </p:cNvPr>
          <p:cNvSpPr>
            <a:spLocks noGrp="1"/>
          </p:cNvSpPr>
          <p:nvPr/>
        </p:nvSpPr>
        <p:spPr>
          <a:xfrm>
            <a:off x="685800" y="1847850"/>
            <a:ext cx="3048000" cy="2476500"/>
          </a:xfrm>
          <a:prstGeom prst="rect">
            <a:avLst/>
          </a:prstGeom>
          <a:solidFill>
            <a:srgbClr val="3B1012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20A5CBE-1A8B-4503-BF67-3D7C393FAC16}"/>
              </a:ext>
            </a:extLst>
          </p:cNvPr>
          <p:cNvSpPr>
            <a:spLocks noGrp="1"/>
          </p:cNvSpPr>
          <p:nvPr/>
        </p:nvSpPr>
        <p:spPr>
          <a:xfrm>
            <a:off x="971550" y="2200275"/>
            <a:ext cx="2476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278" lnSpcReduction="10000"/>
          </a:bodyPr>
          <a:lstStyle/>
          <a:p>
            <a: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ADMIN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827911-8EE1-4D07-9BF8-547465552D9C}"/>
              </a:ext>
            </a:extLst>
          </p:cNvPr>
          <p:cNvSpPr>
            <a:spLocks noGrp="1"/>
          </p:cNvSpPr>
          <p:nvPr/>
        </p:nvSpPr>
        <p:spPr>
          <a:xfrm>
            <a:off x="971550" y="2724150"/>
            <a:ext cx="609600" cy="38100"/>
          </a:xfrm>
          <a:prstGeom prst="rect">
            <a:avLst/>
          </a:prstGeom>
          <a:solidFill>
            <a:srgbClr val="C74634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461512A-0BC9-472E-9CBE-8CB030E37E83}"/>
              </a:ext>
            </a:extLst>
          </p:cNvPr>
          <p:cNvSpPr>
            <a:spLocks noGrp="1"/>
          </p:cNvSpPr>
          <p:nvPr/>
        </p:nvSpPr>
        <p:spPr>
          <a:xfrm>
            <a:off x="971550" y="3076575"/>
            <a:ext cx="2343150" cy="742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350" b="0">
                <a:solidFill>
                  <a:srgbClr val="F2DDD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2DDD7"/>
                </a:solidFill>
                <a:latin typeface="Arial"/>
                <a:ea typeface="Arial"/>
                <a:cs typeface="Arial"/>
              </a:rPr>
              <a:t>Catalog, employees, requests, reports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BF3F2E-1383-434D-86C6-F362CC9818FA}"/>
              </a:ext>
            </a:extLst>
          </p:cNvPr>
          <p:cNvSpPr>
            <a:spLocks noGrp="1"/>
          </p:cNvSpPr>
          <p:nvPr/>
        </p:nvSpPr>
        <p:spPr>
          <a:xfrm>
            <a:off x="4286250" y="1847850"/>
            <a:ext cx="3048000" cy="2476500"/>
          </a:xfrm>
          <a:prstGeom prst="rect">
            <a:avLst/>
          </a:prstGeom>
          <a:solidFill>
            <a:srgbClr val="F6F1EC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D691551-AE83-4820-B786-53929B18AD5F}"/>
              </a:ext>
            </a:extLst>
          </p:cNvPr>
          <p:cNvSpPr>
            <a:spLocks noGrp="1"/>
          </p:cNvSpPr>
          <p:nvPr/>
        </p:nvSpPr>
        <p:spPr>
          <a:xfrm>
            <a:off x="4572000" y="2200275"/>
            <a:ext cx="2476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278" lnSpcReduction="10000"/>
          </a:bodyPr>
          <a:lstStyle/>
          <a:p>
            <a:pPr>
              <a:defRPr sz="1800" b="1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A1716"/>
                </a:solidFill>
                <a:latin typeface="Arial"/>
                <a:ea typeface="Arial"/>
                <a:cs typeface="Arial"/>
              </a:rPr>
              <a:t>USER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04C0CEA-4929-415F-8639-DA99E1DBDD38}"/>
              </a:ext>
            </a:extLst>
          </p:cNvPr>
          <p:cNvSpPr>
            <a:spLocks noGrp="1"/>
          </p:cNvSpPr>
          <p:nvPr/>
        </p:nvSpPr>
        <p:spPr>
          <a:xfrm>
            <a:off x="4572000" y="2724150"/>
            <a:ext cx="609600" cy="38100"/>
          </a:xfrm>
          <a:prstGeom prst="rect">
            <a:avLst/>
          </a:prstGeom>
          <a:solidFill>
            <a:srgbClr val="C74634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9284FB-F531-475D-80A5-0B5C1156B1EC}"/>
              </a:ext>
            </a:extLst>
          </p:cNvPr>
          <p:cNvSpPr>
            <a:spLocks noGrp="1"/>
          </p:cNvSpPr>
          <p:nvPr/>
        </p:nvSpPr>
        <p:spPr>
          <a:xfrm>
            <a:off x="4572000" y="3076575"/>
            <a:ext cx="2343150" cy="742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350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A1716"/>
                </a:solidFill>
                <a:latin typeface="Arial"/>
                <a:ea typeface="Arial"/>
                <a:cs typeface="Arial"/>
              </a:rPr>
              <a:t>Browse, cart, checkout, orders, funds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90DAFDE-FA1D-4723-A6D1-80FBD905DEFE}"/>
              </a:ext>
            </a:extLst>
          </p:cNvPr>
          <p:cNvSpPr>
            <a:spLocks noGrp="1"/>
          </p:cNvSpPr>
          <p:nvPr/>
        </p:nvSpPr>
        <p:spPr>
          <a:xfrm>
            <a:off x="7886700" y="1847850"/>
            <a:ext cx="3048000" cy="2476500"/>
          </a:xfrm>
          <a:prstGeom prst="rect">
            <a:avLst/>
          </a:prstGeom>
          <a:solidFill>
            <a:srgbClr val="EAF0ED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CD302EF-D274-4EF8-AE12-F5F4BA8F0C9A}"/>
              </a:ext>
            </a:extLst>
          </p:cNvPr>
          <p:cNvSpPr>
            <a:spLocks noGrp="1"/>
          </p:cNvSpPr>
          <p:nvPr/>
        </p:nvSpPr>
        <p:spPr>
          <a:xfrm>
            <a:off x="8172450" y="2200275"/>
            <a:ext cx="2476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278" lnSpcReduction="10000"/>
          </a:bodyPr>
          <a:lstStyle/>
          <a:p>
            <a:pPr>
              <a:defRPr sz="1800" b="1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A1716"/>
                </a:solidFill>
                <a:latin typeface="Arial"/>
                <a:ea typeface="Arial"/>
                <a:cs typeface="Arial"/>
              </a:rPr>
              <a:t>EMPLOYEE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398C8E-688F-4FDA-BD13-80112055CAA0}"/>
              </a:ext>
            </a:extLst>
          </p:cNvPr>
          <p:cNvSpPr>
            <a:spLocks noGrp="1"/>
          </p:cNvSpPr>
          <p:nvPr/>
        </p:nvSpPr>
        <p:spPr>
          <a:xfrm>
            <a:off x="8172450" y="2724150"/>
            <a:ext cx="609600" cy="38100"/>
          </a:xfrm>
          <a:prstGeom prst="rect">
            <a:avLst/>
          </a:prstGeom>
          <a:solidFill>
            <a:srgbClr val="C74634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FF30E79-BA26-41F3-9057-745EA49EB4AF}"/>
              </a:ext>
            </a:extLst>
          </p:cNvPr>
          <p:cNvSpPr>
            <a:spLocks noGrp="1"/>
          </p:cNvSpPr>
          <p:nvPr/>
        </p:nvSpPr>
        <p:spPr>
          <a:xfrm>
            <a:off x="8172450" y="3076575"/>
            <a:ext cx="2343150" cy="742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350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A1716"/>
                </a:solidFill>
                <a:latin typeface="Arial"/>
                <a:ea typeface="Arial"/>
                <a:cs typeface="Arial"/>
              </a:rPr>
              <a:t>Inventory requests, order updates, unlocks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800B5BE-F916-4EDD-A1CA-6EED79F7084A}"/>
              </a:ext>
            </a:extLst>
          </p:cNvPr>
          <p:cNvSpPr>
            <a:spLocks noGrp="1"/>
          </p:cNvSpPr>
          <p:nvPr/>
        </p:nvSpPr>
        <p:spPr>
          <a:xfrm>
            <a:off x="685800" y="4857750"/>
            <a:ext cx="8572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6667" lnSpcReduction="10000"/>
          </a:bodyPr>
          <a:lstStyle/>
          <a:p>
            <a:pPr>
              <a:defRPr sz="1500" b="1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A1716"/>
                </a:solidFill>
                <a:latin typeface="Arial"/>
                <a:ea typeface="Arial"/>
                <a:cs typeface="Arial"/>
              </a:rPr>
              <a:t>The application routes each authenticated user to a role-specific dashboard.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CF67929-A6ED-42DB-A683-8B0934696287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810000" cy="152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0833" lnSpcReduction="10000"/>
          </a:bodyPr>
          <a:lstStyle/>
          <a:p>
            <a:pPr>
              <a:defRPr sz="750" b="0">
                <a:solidFill>
                  <a:srgbClr val="5D585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5854"/>
                </a:solidFill>
                <a:latin typeface="Arial"/>
                <a:ea typeface="Arial"/>
                <a:cs typeface="Arial"/>
              </a:rPr>
              <a:t>Grocers Project  |  Team 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A33854F-0F2C-410F-BA8E-65653B305B00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57200" cy="152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0833" lnSpcReduction="10000"/>
          </a:bodyPr>
          <a:lstStyle/>
          <a:p>
            <a:pPr>
              <a:defRPr sz="750" b="1">
                <a:solidFill>
                  <a:srgbClr val="5D5854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D585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806766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AB5055CE-1780-40A7-BE44-CFBFE23F0C25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523875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5833" lnSpcReduction="10000"/>
          </a:bodyPr>
          <a:lstStyle/>
          <a:p>
            <a:pPr>
              <a:defRPr sz="9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ONLINE GROCERS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DB375AC-CC14-45B7-9B1E-88E51499A3D2}"/>
              </a:ext>
            </a:extLst>
          </p:cNvPr>
          <p:cNvSpPr>
            <a:spLocks noGrp="1"/>
          </p:cNvSpPr>
          <p:nvPr/>
        </p:nvSpPr>
        <p:spPr>
          <a:xfrm>
            <a:off x="685800" y="657225"/>
            <a:ext cx="101917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400" b="1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A1716"/>
                </a:solidFill>
                <a:latin typeface="Arial"/>
                <a:ea typeface="Arial"/>
                <a:cs typeface="Arial"/>
              </a:rPr>
              <a:t>User Shopping Experience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478121-3E3C-45FB-8182-07B3BC3C94B9}"/>
              </a:ext>
            </a:extLst>
          </p:cNvPr>
          <p:cNvSpPr>
            <a:spLocks noGrp="1"/>
          </p:cNvSpPr>
          <p:nvPr/>
        </p:nvSpPr>
        <p:spPr>
          <a:xfrm>
            <a:off x="685800" y="1276350"/>
            <a:ext cx="666750" cy="38100"/>
          </a:xfrm>
          <a:prstGeom prst="rect">
            <a:avLst/>
          </a:prstGeom>
          <a:solidFill>
            <a:srgbClr val="C74634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1844051-EF99-462F-9387-A59498F835F0}"/>
              </a:ext>
            </a:extLst>
          </p:cNvPr>
          <p:cNvSpPr>
            <a:spLocks noGrp="1"/>
          </p:cNvSpPr>
          <p:nvPr/>
        </p:nvSpPr>
        <p:spPr>
          <a:xfrm>
            <a:off x="685800" y="184785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118"/>
          </a:bodyPr>
          <a:lstStyle/>
          <a:p>
            <a:pPr>
              <a:defRPr sz="25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0EBC3B-AF93-48C6-8978-D1BC7ADE2BD7}"/>
              </a:ext>
            </a:extLst>
          </p:cNvPr>
          <p:cNvSpPr>
            <a:spLocks noGrp="1"/>
          </p:cNvSpPr>
          <p:nvPr/>
        </p:nvSpPr>
        <p:spPr>
          <a:xfrm>
            <a:off x="685800" y="2457450"/>
            <a:ext cx="2076450" cy="19050"/>
          </a:xfrm>
          <a:prstGeom prst="rect">
            <a:avLst/>
          </a:prstGeom>
          <a:solidFill>
            <a:srgbClr val="DCCFC7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2B3ED3-9628-4CF2-BD21-0CD91D7C3C32}"/>
              </a:ext>
            </a:extLst>
          </p:cNvPr>
          <p:cNvSpPr>
            <a:spLocks noGrp="1"/>
          </p:cNvSpPr>
          <p:nvPr/>
        </p:nvSpPr>
        <p:spPr>
          <a:xfrm>
            <a:off x="685800" y="2705100"/>
            <a:ext cx="219075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425" b="1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A1716"/>
                </a:solidFill>
                <a:latin typeface="Arial"/>
                <a:ea typeface="Arial"/>
                <a:cs typeface="Arial"/>
              </a:rPr>
              <a:t>Register and sign in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6629B9-0054-4A4C-AF61-A7804C7CE34A}"/>
              </a:ext>
            </a:extLst>
          </p:cNvPr>
          <p:cNvSpPr>
            <a:spLocks noGrp="1"/>
          </p:cNvSpPr>
          <p:nvPr/>
        </p:nvSpPr>
        <p:spPr>
          <a:xfrm>
            <a:off x="3400425" y="184785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118"/>
          </a:bodyPr>
          <a:lstStyle/>
          <a:p>
            <a:pPr>
              <a:defRPr sz="25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3D4F1A-7A52-4AE8-8062-0278B808220F}"/>
              </a:ext>
            </a:extLst>
          </p:cNvPr>
          <p:cNvSpPr>
            <a:spLocks noGrp="1"/>
          </p:cNvSpPr>
          <p:nvPr/>
        </p:nvSpPr>
        <p:spPr>
          <a:xfrm>
            <a:off x="3400425" y="2457450"/>
            <a:ext cx="2076450" cy="19050"/>
          </a:xfrm>
          <a:prstGeom prst="rect">
            <a:avLst/>
          </a:prstGeom>
          <a:solidFill>
            <a:srgbClr val="DCCFC7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B63ABA6-6BC9-466C-8322-4AB63883D913}"/>
              </a:ext>
            </a:extLst>
          </p:cNvPr>
          <p:cNvSpPr>
            <a:spLocks noGrp="1"/>
          </p:cNvSpPr>
          <p:nvPr/>
        </p:nvSpPr>
        <p:spPr>
          <a:xfrm>
            <a:off x="3400425" y="2705100"/>
            <a:ext cx="219075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368" lnSpcReduction="10000"/>
          </a:bodyPr>
          <a:lstStyle/>
          <a:p>
            <a:pPr>
              <a:defRPr sz="1425" b="1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A1716"/>
                </a:solidFill>
                <a:latin typeface="Arial"/>
                <a:ea typeface="Arial"/>
                <a:cs typeface="Arial"/>
              </a:rPr>
              <a:t>Browse and manage cart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C0DF982-DAAD-4380-9635-7D676D33539A}"/>
              </a:ext>
            </a:extLst>
          </p:cNvPr>
          <p:cNvSpPr>
            <a:spLocks noGrp="1"/>
          </p:cNvSpPr>
          <p:nvPr/>
        </p:nvSpPr>
        <p:spPr>
          <a:xfrm>
            <a:off x="6115050" y="184785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118"/>
          </a:bodyPr>
          <a:lstStyle/>
          <a:p>
            <a:pPr>
              <a:defRPr sz="25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F5AE223-62ED-4A2F-93C3-54B85EDBA126}"/>
              </a:ext>
            </a:extLst>
          </p:cNvPr>
          <p:cNvSpPr>
            <a:spLocks noGrp="1"/>
          </p:cNvSpPr>
          <p:nvPr/>
        </p:nvSpPr>
        <p:spPr>
          <a:xfrm>
            <a:off x="6115050" y="2457450"/>
            <a:ext cx="2076450" cy="19050"/>
          </a:xfrm>
          <a:prstGeom prst="rect">
            <a:avLst/>
          </a:prstGeom>
          <a:solidFill>
            <a:srgbClr val="DCCFC7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89E8F5-6698-4C9F-902F-83CD408F4C62}"/>
              </a:ext>
            </a:extLst>
          </p:cNvPr>
          <p:cNvSpPr>
            <a:spLocks noGrp="1"/>
          </p:cNvSpPr>
          <p:nvPr/>
        </p:nvSpPr>
        <p:spPr>
          <a:xfrm>
            <a:off x="6115050" y="2705100"/>
            <a:ext cx="219075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368" lnSpcReduction="10000"/>
          </a:bodyPr>
          <a:lstStyle/>
          <a:p>
            <a:pPr>
              <a:defRPr sz="1425" b="1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A1716"/>
                </a:solidFill>
                <a:latin typeface="Arial"/>
                <a:ea typeface="Arial"/>
                <a:cs typeface="Arial"/>
              </a:rPr>
              <a:t>Add funds and checkout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E931103-B982-4E2C-ADA4-DC90C14B2D12}"/>
              </a:ext>
            </a:extLst>
          </p:cNvPr>
          <p:cNvSpPr>
            <a:spLocks noGrp="1"/>
          </p:cNvSpPr>
          <p:nvPr/>
        </p:nvSpPr>
        <p:spPr>
          <a:xfrm>
            <a:off x="8829675" y="184785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118"/>
          </a:bodyPr>
          <a:lstStyle/>
          <a:p>
            <a:pPr>
              <a:defRPr sz="25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3A0C700-DFDD-4CD0-ABAC-BFA010F6C5C3}"/>
              </a:ext>
            </a:extLst>
          </p:cNvPr>
          <p:cNvSpPr>
            <a:spLocks noGrp="1"/>
          </p:cNvSpPr>
          <p:nvPr/>
        </p:nvSpPr>
        <p:spPr>
          <a:xfrm>
            <a:off x="8829675" y="2457450"/>
            <a:ext cx="2076450" cy="19050"/>
          </a:xfrm>
          <a:prstGeom prst="rect">
            <a:avLst/>
          </a:prstGeom>
          <a:solidFill>
            <a:srgbClr val="DCCFC7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FE76EA5-EFC1-4655-B597-DD9ECB72E03C}"/>
              </a:ext>
            </a:extLst>
          </p:cNvPr>
          <p:cNvSpPr>
            <a:spLocks noGrp="1"/>
          </p:cNvSpPr>
          <p:nvPr/>
        </p:nvSpPr>
        <p:spPr>
          <a:xfrm>
            <a:off x="8829675" y="2705100"/>
            <a:ext cx="219075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425" b="1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A1716"/>
                </a:solidFill>
                <a:latin typeface="Arial"/>
                <a:ea typeface="Arial"/>
                <a:cs typeface="Arial"/>
              </a:rPr>
              <a:t>Track order status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91500DC-06C8-458C-B1FB-B443AF2BD928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9906000" cy="1066800"/>
          </a:xfrm>
          <a:prstGeom prst="rect">
            <a:avLst/>
          </a:prstGeom>
          <a:solidFill>
            <a:srgbClr val="F6F1EC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82F5163-53D5-4DF5-984F-343DC5F6EDB0}"/>
              </a:ext>
            </a:extLst>
          </p:cNvPr>
          <p:cNvSpPr>
            <a:spLocks noGrp="1"/>
          </p:cNvSpPr>
          <p:nvPr/>
        </p:nvSpPr>
        <p:spPr>
          <a:xfrm>
            <a:off x="990600" y="4191000"/>
            <a:ext cx="14287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4583" lnSpcReduction="10000"/>
          </a:bodyPr>
          <a:lstStyle/>
          <a:p>
            <a:pPr>
              <a:defRPr sz="12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Key controls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DA525C5-07DE-49E1-9C08-0974A6E6F35C}"/>
              </a:ext>
            </a:extLst>
          </p:cNvPr>
          <p:cNvSpPr>
            <a:spLocks noGrp="1"/>
          </p:cNvSpPr>
          <p:nvPr/>
        </p:nvSpPr>
        <p:spPr>
          <a:xfrm>
            <a:off x="990600" y="4495800"/>
            <a:ext cx="8763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9903" lnSpcReduction="20000"/>
          </a:bodyPr>
          <a:lstStyle/>
          <a:p>
            <a:pPr>
              <a:defRPr sz="1350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A1716"/>
                </a:solidFill>
                <a:latin typeface="Arial"/>
                <a:ea typeface="Arial"/>
                <a:cs typeface="Arial"/>
              </a:rPr>
              <a:t>Lock accounts after three unsuccessful sign-in attempts. Customers can raise a ticket for an employee to review and unlock the account.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2DC7F55-83D9-4050-8481-5BB9C75C28EB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810000" cy="152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0833" lnSpcReduction="10000"/>
          </a:bodyPr>
          <a:lstStyle/>
          <a:p>
            <a:pPr>
              <a:defRPr sz="750" b="0">
                <a:solidFill>
                  <a:srgbClr val="5D585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5854"/>
                </a:solidFill>
                <a:latin typeface="Arial"/>
                <a:ea typeface="Arial"/>
                <a:cs typeface="Arial"/>
              </a:rPr>
              <a:t>Grocers Project  |  Team 1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6036A09-2911-43D3-8FB4-0D62C9346EDC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57200" cy="152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0833" lnSpcReduction="10000"/>
          </a:bodyPr>
          <a:lstStyle/>
          <a:p>
            <a:pPr>
              <a:defRPr sz="750" b="1">
                <a:solidFill>
                  <a:srgbClr val="5D5854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D585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496550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89991AD7-E2E4-4B84-A0C7-4E68CB7B5783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523875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5833" lnSpcReduction="10000"/>
          </a:bodyPr>
          <a:lstStyle/>
          <a:p>
            <a:pPr>
              <a:defRPr sz="9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ONLINE GROCERS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48F0D3D-866C-4748-9F06-0639A31D91A9}"/>
              </a:ext>
            </a:extLst>
          </p:cNvPr>
          <p:cNvSpPr>
            <a:spLocks noGrp="1"/>
          </p:cNvSpPr>
          <p:nvPr/>
        </p:nvSpPr>
        <p:spPr>
          <a:xfrm>
            <a:off x="685800" y="657225"/>
            <a:ext cx="101917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400" b="1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A1716"/>
                </a:solidFill>
                <a:latin typeface="Arial"/>
                <a:ea typeface="Arial"/>
                <a:cs typeface="Arial"/>
              </a:rPr>
              <a:t>Admin Portal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3EA821-CB73-47C1-A521-328CE92DB42A}"/>
              </a:ext>
            </a:extLst>
          </p:cNvPr>
          <p:cNvSpPr>
            <a:spLocks noGrp="1"/>
          </p:cNvSpPr>
          <p:nvPr/>
        </p:nvSpPr>
        <p:spPr>
          <a:xfrm>
            <a:off x="685800" y="1276350"/>
            <a:ext cx="666750" cy="38100"/>
          </a:xfrm>
          <a:prstGeom prst="rect">
            <a:avLst/>
          </a:prstGeom>
          <a:solidFill>
            <a:srgbClr val="C74634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D3D1207-8377-41B6-9352-C88B54020C45}"/>
              </a:ext>
            </a:extLst>
          </p:cNvPr>
          <p:cNvSpPr>
            <a:spLocks noGrp="1"/>
          </p:cNvSpPr>
          <p:nvPr/>
        </p:nvSpPr>
        <p:spPr>
          <a:xfrm>
            <a:off x="685800" y="1704975"/>
            <a:ext cx="4191000" cy="3429000"/>
          </a:xfrm>
          <a:prstGeom prst="rect">
            <a:avLst/>
          </a:prstGeom>
          <a:solidFill>
            <a:srgbClr val="3B1012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1DA407-6F40-452C-ADFA-72A52E685C65}"/>
              </a:ext>
            </a:extLst>
          </p:cNvPr>
          <p:cNvSpPr>
            <a:spLocks noGrp="1"/>
          </p:cNvSpPr>
          <p:nvPr/>
        </p:nvSpPr>
        <p:spPr>
          <a:xfrm>
            <a:off x="1028700" y="2076450"/>
            <a:ext cx="2286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7273" lnSpcReduction="10000"/>
          </a:bodyPr>
          <a:lstStyle/>
          <a:p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Control center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A7A14D8-B430-4555-95E5-7C19B03D8FBE}"/>
              </a:ext>
            </a:extLst>
          </p:cNvPr>
          <p:cNvSpPr>
            <a:spLocks noGrp="1"/>
          </p:cNvSpPr>
          <p:nvPr/>
        </p:nvSpPr>
        <p:spPr>
          <a:xfrm>
            <a:off x="1028700" y="2705100"/>
            <a:ext cx="76200" cy="76200"/>
          </a:xfrm>
          <a:prstGeom prst="ellipse">
            <a:avLst/>
          </a:prstGeom>
          <a:solidFill>
            <a:srgbClr val="C74634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892595-6CC8-4E0C-B1A7-AAB794BAD3A9}"/>
              </a:ext>
            </a:extLst>
          </p:cNvPr>
          <p:cNvSpPr>
            <a:spLocks noGrp="1"/>
          </p:cNvSpPr>
          <p:nvPr/>
        </p:nvSpPr>
        <p:spPr>
          <a:xfrm>
            <a:off x="1219200" y="2619375"/>
            <a:ext cx="2952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444" lnSpcReduction="10000"/>
          </a:bodyPr>
          <a:lstStyle/>
          <a:p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Add, update, and delete products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56C21A4-F7CC-4B2A-BFAE-7081905CAD7F}"/>
              </a:ext>
            </a:extLst>
          </p:cNvPr>
          <p:cNvSpPr>
            <a:spLocks noGrp="1"/>
          </p:cNvSpPr>
          <p:nvPr/>
        </p:nvSpPr>
        <p:spPr>
          <a:xfrm>
            <a:off x="1028700" y="3162300"/>
            <a:ext cx="76200" cy="76200"/>
          </a:xfrm>
          <a:prstGeom prst="ellipse">
            <a:avLst/>
          </a:prstGeom>
          <a:solidFill>
            <a:srgbClr val="C74634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28FB78-A2AF-4A2D-8E9A-436C1EF5AF3B}"/>
              </a:ext>
            </a:extLst>
          </p:cNvPr>
          <p:cNvSpPr>
            <a:spLocks noGrp="1"/>
          </p:cNvSpPr>
          <p:nvPr/>
        </p:nvSpPr>
        <p:spPr>
          <a:xfrm>
            <a:off x="1219200" y="3076575"/>
            <a:ext cx="2952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444" lnSpcReduction="10000"/>
          </a:bodyPr>
          <a:lstStyle/>
          <a:p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Manage employee accounts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6A8E86A-E76D-4C63-BC8B-5F9032CF708E}"/>
              </a:ext>
            </a:extLst>
          </p:cNvPr>
          <p:cNvSpPr>
            <a:spLocks noGrp="1"/>
          </p:cNvSpPr>
          <p:nvPr/>
        </p:nvSpPr>
        <p:spPr>
          <a:xfrm>
            <a:off x="1028700" y="3619500"/>
            <a:ext cx="76200" cy="76200"/>
          </a:xfrm>
          <a:prstGeom prst="ellipse">
            <a:avLst/>
          </a:prstGeom>
          <a:solidFill>
            <a:srgbClr val="C74634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614D921-A113-45F2-95EE-CA5B15443448}"/>
              </a:ext>
            </a:extLst>
          </p:cNvPr>
          <p:cNvSpPr>
            <a:spLocks noGrp="1"/>
          </p:cNvSpPr>
          <p:nvPr/>
        </p:nvSpPr>
        <p:spPr>
          <a:xfrm>
            <a:off x="1219200" y="3533775"/>
            <a:ext cx="2952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444" lnSpcReduction="10000"/>
          </a:bodyPr>
          <a:lstStyle/>
          <a:p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Review inventory requests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ED98D05-C0E7-4805-930D-DE97E58BC33C}"/>
              </a:ext>
            </a:extLst>
          </p:cNvPr>
          <p:cNvSpPr>
            <a:spLocks noGrp="1"/>
          </p:cNvSpPr>
          <p:nvPr/>
        </p:nvSpPr>
        <p:spPr>
          <a:xfrm>
            <a:off x="1028700" y="4076700"/>
            <a:ext cx="76200" cy="76200"/>
          </a:xfrm>
          <a:prstGeom prst="ellipse">
            <a:avLst/>
          </a:prstGeom>
          <a:solidFill>
            <a:srgbClr val="C74634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942D70B-43EC-46CA-A623-3AFE180027E0}"/>
              </a:ext>
            </a:extLst>
          </p:cNvPr>
          <p:cNvSpPr>
            <a:spLocks noGrp="1"/>
          </p:cNvSpPr>
          <p:nvPr/>
        </p:nvSpPr>
        <p:spPr>
          <a:xfrm>
            <a:off x="1219200" y="3990975"/>
            <a:ext cx="2952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444" lnSpcReduction="10000"/>
          </a:bodyPr>
          <a:lstStyle/>
          <a:p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Generate order reports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628059-1B15-4E37-8A73-D654310E96DC}"/>
              </a:ext>
            </a:extLst>
          </p:cNvPr>
          <p:cNvSpPr>
            <a:spLocks noGrp="1"/>
          </p:cNvSpPr>
          <p:nvPr/>
        </p:nvSpPr>
        <p:spPr>
          <a:xfrm>
            <a:off x="5638800" y="1704975"/>
            <a:ext cx="4953000" cy="3429000"/>
          </a:xfrm>
          <a:prstGeom prst="rect">
            <a:avLst/>
          </a:prstGeom>
          <a:solidFill>
            <a:srgbClr val="F6F1EC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9B2DE97-6C49-4AE4-AC22-5E4D3E8C91DD}"/>
              </a:ext>
            </a:extLst>
          </p:cNvPr>
          <p:cNvSpPr>
            <a:spLocks noGrp="1"/>
          </p:cNvSpPr>
          <p:nvPr/>
        </p:nvSpPr>
        <p:spPr>
          <a:xfrm>
            <a:off x="5981700" y="2076450"/>
            <a:ext cx="2667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7273" lnSpcReduction="10000"/>
          </a:bodyPr>
          <a:lstStyle/>
          <a:p>
            <a:pPr>
              <a:defRPr sz="1650" b="1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A1716"/>
                </a:solidFill>
                <a:latin typeface="Arial"/>
                <a:ea typeface="Arial"/>
                <a:cs typeface="Arial"/>
              </a:rPr>
              <a:t>Reporting options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1319B9F-5857-4982-BF4A-44B611FB7129}"/>
              </a:ext>
            </a:extLst>
          </p:cNvPr>
          <p:cNvSpPr>
            <a:spLocks noGrp="1"/>
          </p:cNvSpPr>
          <p:nvPr/>
        </p:nvSpPr>
        <p:spPr>
          <a:xfrm>
            <a:off x="5981700" y="2705100"/>
            <a:ext cx="76200" cy="76200"/>
          </a:xfrm>
          <a:prstGeom prst="ellipse">
            <a:avLst/>
          </a:prstGeom>
          <a:solidFill>
            <a:srgbClr val="C74634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D810BAF-9A8F-4E04-9D84-D8DB780433CA}"/>
              </a:ext>
            </a:extLst>
          </p:cNvPr>
          <p:cNvSpPr>
            <a:spLocks noGrp="1"/>
          </p:cNvSpPr>
          <p:nvPr/>
        </p:nvSpPr>
        <p:spPr>
          <a:xfrm>
            <a:off x="6172200" y="2619375"/>
            <a:ext cx="3429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444" lnSpcReduction="10000"/>
          </a:bodyPr>
          <a:lstStyle/>
          <a:p>
            <a:pPr>
              <a:defRPr sz="1350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A1716"/>
                </a:solidFill>
                <a:latin typeface="Arial"/>
                <a:ea typeface="Arial"/>
                <a:cs typeface="Arial"/>
              </a:rPr>
              <a:t>Daily, weekly, and monthly reports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EBBB1BB-9468-4AE4-ABCB-2A12D924F646}"/>
              </a:ext>
            </a:extLst>
          </p:cNvPr>
          <p:cNvSpPr>
            <a:spLocks noGrp="1"/>
          </p:cNvSpPr>
          <p:nvPr/>
        </p:nvSpPr>
        <p:spPr>
          <a:xfrm>
            <a:off x="5981700" y="3162300"/>
            <a:ext cx="76200" cy="76200"/>
          </a:xfrm>
          <a:prstGeom prst="ellipse">
            <a:avLst/>
          </a:prstGeom>
          <a:solidFill>
            <a:srgbClr val="C74634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D01D237-D616-4817-ABDA-6A582517D9FD}"/>
              </a:ext>
            </a:extLst>
          </p:cNvPr>
          <p:cNvSpPr>
            <a:spLocks noGrp="1"/>
          </p:cNvSpPr>
          <p:nvPr/>
        </p:nvSpPr>
        <p:spPr>
          <a:xfrm>
            <a:off x="6172200" y="3076575"/>
            <a:ext cx="3429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444" lnSpcReduction="10000"/>
          </a:bodyPr>
          <a:lstStyle/>
          <a:p>
            <a:pPr>
              <a:defRPr sz="1350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A1716"/>
                </a:solidFill>
                <a:latin typeface="Arial"/>
                <a:ea typeface="Arial"/>
                <a:cs typeface="Arial"/>
              </a:rPr>
              <a:t>Product-specific report view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A7C89D6-581F-4BA1-BEF9-B395509C0E32}"/>
              </a:ext>
            </a:extLst>
          </p:cNvPr>
          <p:cNvSpPr>
            <a:spLocks noGrp="1"/>
          </p:cNvSpPr>
          <p:nvPr/>
        </p:nvSpPr>
        <p:spPr>
          <a:xfrm>
            <a:off x="5981700" y="3619500"/>
            <a:ext cx="76200" cy="76200"/>
          </a:xfrm>
          <a:prstGeom prst="ellipse">
            <a:avLst/>
          </a:prstGeom>
          <a:solidFill>
            <a:srgbClr val="C74634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A706098-FE1A-476D-98C8-131D73E460BB}"/>
              </a:ext>
            </a:extLst>
          </p:cNvPr>
          <p:cNvSpPr>
            <a:spLocks noGrp="1"/>
          </p:cNvSpPr>
          <p:nvPr/>
        </p:nvSpPr>
        <p:spPr>
          <a:xfrm>
            <a:off x="6172200" y="3533775"/>
            <a:ext cx="3429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444" lnSpcReduction="10000"/>
          </a:bodyPr>
          <a:lstStyle/>
          <a:p>
            <a:pPr>
              <a:defRPr sz="1350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A1716"/>
                </a:solidFill>
                <a:latin typeface="Arial"/>
                <a:ea typeface="Arial"/>
                <a:cs typeface="Arial"/>
              </a:rPr>
              <a:t>Customer-specific report view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091F9EE-0327-4B5E-8128-DCD5C1AF6F81}"/>
              </a:ext>
            </a:extLst>
          </p:cNvPr>
          <p:cNvSpPr>
            <a:spLocks noGrp="1"/>
          </p:cNvSpPr>
          <p:nvPr/>
        </p:nvSpPr>
        <p:spPr>
          <a:xfrm>
            <a:off x="5981700" y="4076700"/>
            <a:ext cx="76200" cy="76200"/>
          </a:xfrm>
          <a:prstGeom prst="ellipse">
            <a:avLst/>
          </a:prstGeom>
          <a:solidFill>
            <a:srgbClr val="C74634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AA0CDD6-1EE4-4682-83CE-1BF643A849AD}"/>
              </a:ext>
            </a:extLst>
          </p:cNvPr>
          <p:cNvSpPr>
            <a:spLocks noGrp="1"/>
          </p:cNvSpPr>
          <p:nvPr/>
        </p:nvSpPr>
        <p:spPr>
          <a:xfrm>
            <a:off x="6172200" y="3990975"/>
            <a:ext cx="3429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444" lnSpcReduction="10000"/>
          </a:bodyPr>
          <a:lstStyle/>
          <a:p>
            <a:pPr>
              <a:defRPr sz="1350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A1716"/>
                </a:solidFill>
                <a:latin typeface="Arial"/>
                <a:ea typeface="Arial"/>
                <a:cs typeface="Arial"/>
              </a:rPr>
              <a:t>Secure admin sign-in and logout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23E5655-A555-4355-8642-5824A5673DC1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810000" cy="152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0833" lnSpcReduction="10000"/>
          </a:bodyPr>
          <a:lstStyle/>
          <a:p>
            <a:pPr>
              <a:defRPr sz="750" b="0">
                <a:solidFill>
                  <a:srgbClr val="5D585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5854"/>
                </a:solidFill>
                <a:latin typeface="Arial"/>
                <a:ea typeface="Arial"/>
                <a:cs typeface="Arial"/>
              </a:rPr>
              <a:t>Grocers Project  |  Team 1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3E430D7-37AD-4BF1-AE75-99FE7FE75810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57200" cy="152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0833" lnSpcReduction="10000"/>
          </a:bodyPr>
          <a:lstStyle/>
          <a:p>
            <a:pPr>
              <a:defRPr sz="750" b="1">
                <a:solidFill>
                  <a:srgbClr val="5D5854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D585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606411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A103DE69-BCE2-4673-8653-28AE26CE46FF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523875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5833" lnSpcReduction="10000"/>
          </a:bodyPr>
          <a:lstStyle/>
          <a:p>
            <a:pPr>
              <a:defRPr sz="9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ONLINE GROCERS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79B771-7BB3-42F9-9DA6-86162F04B921}"/>
              </a:ext>
            </a:extLst>
          </p:cNvPr>
          <p:cNvSpPr>
            <a:spLocks noGrp="1"/>
          </p:cNvSpPr>
          <p:nvPr/>
        </p:nvSpPr>
        <p:spPr>
          <a:xfrm>
            <a:off x="685800" y="657225"/>
            <a:ext cx="101917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400" b="1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A1716"/>
                </a:solidFill>
                <a:latin typeface="Arial"/>
                <a:ea typeface="Arial"/>
                <a:cs typeface="Arial"/>
              </a:rPr>
              <a:t>Employee Operations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7F10145-B9FA-4A90-B126-7EBC8BE692DB}"/>
              </a:ext>
            </a:extLst>
          </p:cNvPr>
          <p:cNvSpPr>
            <a:spLocks noGrp="1"/>
          </p:cNvSpPr>
          <p:nvPr/>
        </p:nvSpPr>
        <p:spPr>
          <a:xfrm>
            <a:off x="685800" y="1276350"/>
            <a:ext cx="666750" cy="38100"/>
          </a:xfrm>
          <a:prstGeom prst="rect">
            <a:avLst/>
          </a:prstGeom>
          <a:solidFill>
            <a:srgbClr val="C74634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052E88-0CFC-4CA2-B07C-EA0E7D1280F5}"/>
              </a:ext>
            </a:extLst>
          </p:cNvPr>
          <p:cNvSpPr>
            <a:spLocks noGrp="1"/>
          </p:cNvSpPr>
          <p:nvPr/>
        </p:nvSpPr>
        <p:spPr>
          <a:xfrm>
            <a:off x="685800" y="1628775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6667" lnSpcReduction="10000"/>
          </a:bodyPr>
          <a:lstStyle/>
          <a:p>
            <a:pPr>
              <a:defRPr sz="1500" b="1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A1716"/>
                </a:solidFill>
                <a:latin typeface="Arial"/>
                <a:ea typeface="Arial"/>
                <a:cs typeface="Arial"/>
              </a:rPr>
              <a:t>Employees keep inventory and fulfillment moving after secure sign-in and first-login password change.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EB5C29-DDCE-4D7D-8794-DEA77B8AAD99}"/>
              </a:ext>
            </a:extLst>
          </p:cNvPr>
          <p:cNvSpPr>
            <a:spLocks noGrp="1"/>
          </p:cNvSpPr>
          <p:nvPr/>
        </p:nvSpPr>
        <p:spPr>
          <a:xfrm>
            <a:off x="685800" y="2428875"/>
            <a:ext cx="9906000" cy="685800"/>
          </a:xfrm>
          <a:prstGeom prst="rect">
            <a:avLst/>
          </a:prstGeom>
          <a:solidFill>
            <a:srgbClr val="F6F1EC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B45EE3-89AB-4911-B1B5-926A212CF7F0}"/>
              </a:ext>
            </a:extLst>
          </p:cNvPr>
          <p:cNvSpPr>
            <a:spLocks noGrp="1"/>
          </p:cNvSpPr>
          <p:nvPr/>
        </p:nvSpPr>
        <p:spPr>
          <a:xfrm>
            <a:off x="990600" y="2600325"/>
            <a:ext cx="20002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3426" lnSpcReduction="10000"/>
          </a:bodyPr>
          <a:lstStyle/>
          <a:p>
            <a:pPr>
              <a:defRPr sz="13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Inventory requests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C22342-C343-4748-A413-79532FAC8456}"/>
              </a:ext>
            </a:extLst>
          </p:cNvPr>
          <p:cNvSpPr>
            <a:spLocks noGrp="1"/>
          </p:cNvSpPr>
          <p:nvPr/>
        </p:nvSpPr>
        <p:spPr>
          <a:xfrm>
            <a:off x="3276600" y="2600325"/>
            <a:ext cx="66675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7892" lnSpcReduction="10000"/>
          </a:bodyPr>
          <a:lstStyle/>
          <a:p>
            <a:pPr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A1716"/>
                </a:solidFill>
                <a:latin typeface="Arial"/>
                <a:ea typeface="Arial"/>
                <a:cs typeface="Arial"/>
              </a:rPr>
              <a:t>Ask the admin to replenish or adjust products.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E8DA6F-6E74-4723-B3DC-D514E53BE8AB}"/>
              </a:ext>
            </a:extLst>
          </p:cNvPr>
          <p:cNvSpPr>
            <a:spLocks noGrp="1"/>
          </p:cNvSpPr>
          <p:nvPr/>
        </p:nvSpPr>
        <p:spPr>
          <a:xfrm>
            <a:off x="685800" y="3362325"/>
            <a:ext cx="9906000" cy="685800"/>
          </a:xfrm>
          <a:prstGeom prst="rect">
            <a:avLst/>
          </a:prstGeom>
          <a:solidFill>
            <a:srgbClr val="F7E7E1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23A7128-1EAA-45CE-B3B5-251CDF762534}"/>
              </a:ext>
            </a:extLst>
          </p:cNvPr>
          <p:cNvSpPr>
            <a:spLocks noGrp="1"/>
          </p:cNvSpPr>
          <p:nvPr/>
        </p:nvSpPr>
        <p:spPr>
          <a:xfrm>
            <a:off x="990600" y="3533775"/>
            <a:ext cx="20002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3426" lnSpcReduction="10000"/>
          </a:bodyPr>
          <a:lstStyle/>
          <a:p>
            <a:pPr>
              <a:defRPr sz="13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Order status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8A1CAE6-CA0F-484F-A389-7752ED15BD35}"/>
              </a:ext>
            </a:extLst>
          </p:cNvPr>
          <p:cNvSpPr>
            <a:spLocks noGrp="1"/>
          </p:cNvSpPr>
          <p:nvPr/>
        </p:nvSpPr>
        <p:spPr>
          <a:xfrm>
            <a:off x="3276600" y="3533775"/>
            <a:ext cx="66675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7892" lnSpcReduction="10000"/>
          </a:bodyPr>
          <a:lstStyle/>
          <a:p>
            <a:pPr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A1716"/>
                </a:solidFill>
                <a:latin typeface="Arial"/>
                <a:ea typeface="Arial"/>
                <a:cs typeface="Arial"/>
              </a:rPr>
              <a:t>Set shipped, out for delivery, delivered, or cancelled.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4ED559E-820C-4510-87BB-B9F66A77F88C}"/>
              </a:ext>
            </a:extLst>
          </p:cNvPr>
          <p:cNvSpPr>
            <a:spLocks noGrp="1"/>
          </p:cNvSpPr>
          <p:nvPr/>
        </p:nvSpPr>
        <p:spPr>
          <a:xfrm>
            <a:off x="685800" y="4295775"/>
            <a:ext cx="9906000" cy="685800"/>
          </a:xfrm>
          <a:prstGeom prst="rect">
            <a:avLst/>
          </a:prstGeom>
          <a:solidFill>
            <a:srgbClr val="F6F1EC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ED2A18B-22F0-4B69-AAF4-9AC310F99123}"/>
              </a:ext>
            </a:extLst>
          </p:cNvPr>
          <p:cNvSpPr>
            <a:spLocks noGrp="1"/>
          </p:cNvSpPr>
          <p:nvPr/>
        </p:nvSpPr>
        <p:spPr>
          <a:xfrm>
            <a:off x="990600" y="4467225"/>
            <a:ext cx="20002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3426" lnSpcReduction="10000"/>
          </a:bodyPr>
          <a:lstStyle/>
          <a:p>
            <a:pPr>
              <a:defRPr sz="13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Account support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55A5216-A7B0-485F-A4DF-77C6CB63340F}"/>
              </a:ext>
            </a:extLst>
          </p:cNvPr>
          <p:cNvSpPr>
            <a:spLocks noGrp="1"/>
          </p:cNvSpPr>
          <p:nvPr/>
        </p:nvSpPr>
        <p:spPr>
          <a:xfrm>
            <a:off x="3276600" y="4467225"/>
            <a:ext cx="66675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7892" lnSpcReduction="10000"/>
          </a:bodyPr>
          <a:lstStyle/>
          <a:p>
            <a:pPr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A1716"/>
                </a:solidFill>
                <a:latin typeface="Arial"/>
                <a:ea typeface="Arial"/>
                <a:cs typeface="Arial"/>
              </a:rPr>
              <a:t>Review tickets and unlock eligible user accounts.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23BDF2A-4572-4BDC-BA3C-201938531E39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810000" cy="152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0833" lnSpcReduction="10000"/>
          </a:bodyPr>
          <a:lstStyle/>
          <a:p>
            <a:pPr>
              <a:defRPr sz="750" b="0">
                <a:solidFill>
                  <a:srgbClr val="5D585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5854"/>
                </a:solidFill>
                <a:latin typeface="Arial"/>
                <a:ea typeface="Arial"/>
                <a:cs typeface="Arial"/>
              </a:rPr>
              <a:t>Grocers Project  |  Team 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9B364E8-72F2-4841-936D-9B9DAA318185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57200" cy="152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0833" lnSpcReduction="10000"/>
          </a:bodyPr>
          <a:lstStyle/>
          <a:p>
            <a:pPr>
              <a:defRPr sz="750" b="1">
                <a:solidFill>
                  <a:srgbClr val="5D5854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D5854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897371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729384DD-2F91-405E-AFA2-4246A492EA8E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523875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5833" lnSpcReduction="10000"/>
          </a:bodyPr>
          <a:lstStyle/>
          <a:p>
            <a:pPr>
              <a:defRPr sz="9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ONLINE GROCERS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2CEC47-1E33-4475-B442-64EBB6CB1EEA}"/>
              </a:ext>
            </a:extLst>
          </p:cNvPr>
          <p:cNvSpPr>
            <a:spLocks noGrp="1"/>
          </p:cNvSpPr>
          <p:nvPr/>
        </p:nvSpPr>
        <p:spPr>
          <a:xfrm>
            <a:off x="685800" y="657225"/>
            <a:ext cx="101917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400" b="1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A1716"/>
                </a:solidFill>
                <a:latin typeface="Arial"/>
                <a:ea typeface="Arial"/>
                <a:cs typeface="Arial"/>
              </a:rPr>
              <a:t>Proposed Application Architecture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101F62-081D-4F60-A6BB-5E42D94ED97F}"/>
              </a:ext>
            </a:extLst>
          </p:cNvPr>
          <p:cNvSpPr>
            <a:spLocks noGrp="1"/>
          </p:cNvSpPr>
          <p:nvPr/>
        </p:nvSpPr>
        <p:spPr>
          <a:xfrm>
            <a:off x="685800" y="1276350"/>
            <a:ext cx="666750" cy="38100"/>
          </a:xfrm>
          <a:prstGeom prst="rect">
            <a:avLst/>
          </a:prstGeom>
          <a:solidFill>
            <a:srgbClr val="C74634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7C41A8-AF86-43F4-852F-148ECAA5739F}"/>
              </a:ext>
            </a:extLst>
          </p:cNvPr>
          <p:cNvSpPr>
            <a:spLocks noGrp="1"/>
          </p:cNvSpPr>
          <p:nvPr/>
        </p:nvSpPr>
        <p:spPr>
          <a:xfrm>
            <a:off x="1524000" y="1752600"/>
            <a:ext cx="7524750" cy="876300"/>
          </a:xfrm>
          <a:prstGeom prst="rect">
            <a:avLst/>
          </a:prstGeom>
          <a:solidFill>
            <a:srgbClr val="F6F1EC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9B2F3E-4D50-4D9F-B667-DD49A8BEC156}"/>
              </a:ext>
            </a:extLst>
          </p:cNvPr>
          <p:cNvSpPr>
            <a:spLocks noGrp="1"/>
          </p:cNvSpPr>
          <p:nvPr/>
        </p:nvSpPr>
        <p:spPr>
          <a:xfrm>
            <a:off x="1847850" y="1962150"/>
            <a:ext cx="20002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1296" lnSpcReduction="10000"/>
          </a:bodyPr>
          <a:lstStyle/>
          <a:p>
            <a:pPr>
              <a:defRPr sz="13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Web frontend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537808C-019A-4C71-8ACB-E659FFBA3CAA}"/>
              </a:ext>
            </a:extLst>
          </p:cNvPr>
          <p:cNvSpPr>
            <a:spLocks noGrp="1"/>
          </p:cNvSpPr>
          <p:nvPr/>
        </p:nvSpPr>
        <p:spPr>
          <a:xfrm>
            <a:off x="4095750" y="1962150"/>
            <a:ext cx="45720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A1716"/>
                </a:solidFill>
                <a:latin typeface="Arial"/>
                <a:ea typeface="Arial"/>
                <a:cs typeface="Arial"/>
              </a:rPr>
              <a:t>Role-based single-page portal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B4053F-8FE9-402D-B5C5-EA980370F526}"/>
              </a:ext>
            </a:extLst>
          </p:cNvPr>
          <p:cNvSpPr>
            <a:spLocks noGrp="1"/>
          </p:cNvSpPr>
          <p:nvPr/>
        </p:nvSpPr>
        <p:spPr>
          <a:xfrm>
            <a:off x="5143500" y="2667000"/>
            <a:ext cx="381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8000" lnSpcReduction="10000"/>
          </a:bodyPr>
          <a:lstStyle/>
          <a:p>
            <a:pPr>
              <a:defRPr sz="187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7C4DE5-9118-4C80-9DD3-8FE937DAEEF1}"/>
              </a:ext>
            </a:extLst>
          </p:cNvPr>
          <p:cNvSpPr>
            <a:spLocks noGrp="1"/>
          </p:cNvSpPr>
          <p:nvPr/>
        </p:nvSpPr>
        <p:spPr>
          <a:xfrm>
            <a:off x="1524000" y="3028950"/>
            <a:ext cx="7524750" cy="876300"/>
          </a:xfrm>
          <a:prstGeom prst="rect">
            <a:avLst/>
          </a:prstGeom>
          <a:solidFill>
            <a:srgbClr val="3B1012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A347A7B-CC40-4DF3-A672-A3B3613757B2}"/>
              </a:ext>
            </a:extLst>
          </p:cNvPr>
          <p:cNvSpPr>
            <a:spLocks noGrp="1"/>
          </p:cNvSpPr>
          <p:nvPr/>
        </p:nvSpPr>
        <p:spPr>
          <a:xfrm>
            <a:off x="1847850" y="3238500"/>
            <a:ext cx="20002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1296" lnSpcReduction="10000"/>
          </a:bodyPr>
          <a:lstStyle/>
          <a:p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REST API layer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6E05372-EAE6-49B4-8D8A-255128876773}"/>
              </a:ext>
            </a:extLst>
          </p:cNvPr>
          <p:cNvSpPr>
            <a:spLocks noGrp="1"/>
          </p:cNvSpPr>
          <p:nvPr/>
        </p:nvSpPr>
        <p:spPr>
          <a:xfrm>
            <a:off x="4095750" y="3238500"/>
            <a:ext cx="45720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103"/>
          </a:bodyPr>
          <a:lstStyle/>
          <a:p>
            <a:pPr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Authentication, catalog, cart, order, ticket, and reporting services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D3021BB-439A-4655-B39B-AAD8A3199B39}"/>
              </a:ext>
            </a:extLst>
          </p:cNvPr>
          <p:cNvSpPr>
            <a:spLocks noGrp="1"/>
          </p:cNvSpPr>
          <p:nvPr/>
        </p:nvSpPr>
        <p:spPr>
          <a:xfrm>
            <a:off x="5143500" y="3943350"/>
            <a:ext cx="381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8000" lnSpcReduction="10000"/>
          </a:bodyPr>
          <a:lstStyle/>
          <a:p>
            <a:pPr>
              <a:defRPr sz="187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748BCA8-2A92-489D-8A6F-33448C507741}"/>
              </a:ext>
            </a:extLst>
          </p:cNvPr>
          <p:cNvSpPr>
            <a:spLocks noGrp="1"/>
          </p:cNvSpPr>
          <p:nvPr/>
        </p:nvSpPr>
        <p:spPr>
          <a:xfrm>
            <a:off x="1524000" y="4305300"/>
            <a:ext cx="7524750" cy="876300"/>
          </a:xfrm>
          <a:prstGeom prst="rect">
            <a:avLst/>
          </a:prstGeom>
          <a:solidFill>
            <a:srgbClr val="F6F1EC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1620281-5D48-40F9-9090-FC2CCC8D3F11}"/>
              </a:ext>
            </a:extLst>
          </p:cNvPr>
          <p:cNvSpPr>
            <a:spLocks noGrp="1"/>
          </p:cNvSpPr>
          <p:nvPr/>
        </p:nvSpPr>
        <p:spPr>
          <a:xfrm>
            <a:off x="1847850" y="4514850"/>
            <a:ext cx="20002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1296" lnSpcReduction="10000"/>
          </a:bodyPr>
          <a:lstStyle/>
          <a:p>
            <a:pPr>
              <a:defRPr sz="13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Database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AFD8023-66CE-4E83-B1D8-FFCF71545619}"/>
              </a:ext>
            </a:extLst>
          </p:cNvPr>
          <p:cNvSpPr>
            <a:spLocks noGrp="1"/>
          </p:cNvSpPr>
          <p:nvPr/>
        </p:nvSpPr>
        <p:spPr>
          <a:xfrm>
            <a:off x="4095750" y="4514850"/>
            <a:ext cx="45720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A1716"/>
                </a:solidFill>
                <a:latin typeface="Arial"/>
                <a:ea typeface="Arial"/>
                <a:cs typeface="Arial"/>
              </a:rPr>
              <a:t>Users, employees, products, orders, funds, and requests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4EB9E6-1C4E-4CC5-8038-3C765ADCC869}"/>
              </a:ext>
            </a:extLst>
          </p:cNvPr>
          <p:cNvSpPr>
            <a:spLocks noGrp="1"/>
          </p:cNvSpPr>
          <p:nvPr/>
        </p:nvSpPr>
        <p:spPr>
          <a:xfrm>
            <a:off x="9544050" y="2152650"/>
            <a:ext cx="15240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57778" lnSpcReduction="10000"/>
          </a:bodyPr>
          <a:lstStyle/>
          <a:p>
            <a:pPr>
              <a:defRPr sz="112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Design principle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4FDD9A7-BC0E-4905-82FE-0551C4C96536}"/>
              </a:ext>
            </a:extLst>
          </p:cNvPr>
          <p:cNvSpPr>
            <a:spLocks noGrp="1"/>
          </p:cNvSpPr>
          <p:nvPr/>
        </p:nvSpPr>
        <p:spPr>
          <a:xfrm>
            <a:off x="9544050" y="2495550"/>
            <a:ext cx="1714500" cy="914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350" b="1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A1716"/>
                </a:solidFill>
                <a:latin typeface="Arial"/>
                <a:ea typeface="Arial"/>
                <a:cs typeface="Arial"/>
              </a:rPr>
              <a:t>Separate role portals share the same service and data foundation.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AAC702A-57A9-4B38-B016-A85AB5702A43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810000" cy="152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0833" lnSpcReduction="10000"/>
          </a:bodyPr>
          <a:lstStyle/>
          <a:p>
            <a:pPr>
              <a:defRPr sz="750" b="0">
                <a:solidFill>
                  <a:srgbClr val="5D585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5854"/>
                </a:solidFill>
                <a:latin typeface="Arial"/>
                <a:ea typeface="Arial"/>
                <a:cs typeface="Arial"/>
              </a:rPr>
              <a:t>Grocers Project  |  Team 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BD76E5B-41DA-47AD-BBE6-2AD9CB18B4BF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57200" cy="152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0833" lnSpcReduction="10000"/>
          </a:bodyPr>
          <a:lstStyle/>
          <a:p>
            <a:pPr>
              <a:defRPr sz="750" b="1">
                <a:solidFill>
                  <a:srgbClr val="5D5854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D5854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498123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EA9AB3E2-D0E5-42A4-9997-C7EDA77B33CF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523875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5833" lnSpcReduction="20000"/>
          </a:bodyPr>
          <a:lstStyle/>
          <a:p>
            <a:pPr>
              <a:defRPr sz="9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ONLINE GROCERS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AEE4690-974C-489C-8CA1-AD4AB509F5FB}"/>
              </a:ext>
            </a:extLst>
          </p:cNvPr>
          <p:cNvSpPr>
            <a:spLocks noGrp="1"/>
          </p:cNvSpPr>
          <p:nvPr/>
        </p:nvSpPr>
        <p:spPr>
          <a:xfrm>
            <a:off x="685800" y="657225"/>
            <a:ext cx="101917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400" b="1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A1716"/>
                </a:solidFill>
                <a:latin typeface="Arial"/>
                <a:ea typeface="Arial"/>
                <a:cs typeface="Arial"/>
              </a:rPr>
              <a:t>Business Rules and Validation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22690D-7E13-4E21-86B8-6CF9356D385A}"/>
              </a:ext>
            </a:extLst>
          </p:cNvPr>
          <p:cNvSpPr>
            <a:spLocks noGrp="1"/>
          </p:cNvSpPr>
          <p:nvPr/>
        </p:nvSpPr>
        <p:spPr>
          <a:xfrm>
            <a:off x="685800" y="1276350"/>
            <a:ext cx="666750" cy="38100"/>
          </a:xfrm>
          <a:prstGeom prst="rect">
            <a:avLst/>
          </a:prstGeom>
          <a:solidFill>
            <a:srgbClr val="C74634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11AAA3-FA89-4FD3-A36F-D206DCC62100}"/>
              </a:ext>
            </a:extLst>
          </p:cNvPr>
          <p:cNvSpPr>
            <a:spLocks noGrp="1"/>
          </p:cNvSpPr>
          <p:nvPr/>
        </p:nvSpPr>
        <p:spPr>
          <a:xfrm>
            <a:off x="685800" y="1638300"/>
            <a:ext cx="2095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588" lnSpcReduction="20000"/>
          </a:bodyPr>
          <a:lstStyle/>
          <a:p>
            <a:pPr>
              <a:defRPr sz="127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Authentication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1FB574-8E4E-4258-BEA2-316CECAC90D3}"/>
              </a:ext>
            </a:extLst>
          </p:cNvPr>
          <p:cNvSpPr>
            <a:spLocks noGrp="1"/>
          </p:cNvSpPr>
          <p:nvPr/>
        </p:nvSpPr>
        <p:spPr>
          <a:xfrm>
            <a:off x="3105150" y="1638300"/>
            <a:ext cx="7524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100" b="0" dirty="0">
                <a:solidFill>
                  <a:srgbClr val="1A1716"/>
                </a:solidFill>
                <a:latin typeface="Arial"/>
                <a:ea typeface="Arial"/>
                <a:cs typeface="Arial"/>
              </a:rPr>
              <a:t>Validate credentials and show clear error messages.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71C01E-AF94-4DE4-AB66-B447D761A358}"/>
              </a:ext>
            </a:extLst>
          </p:cNvPr>
          <p:cNvSpPr>
            <a:spLocks noGrp="1"/>
          </p:cNvSpPr>
          <p:nvPr/>
        </p:nvSpPr>
        <p:spPr>
          <a:xfrm>
            <a:off x="685800" y="2085975"/>
            <a:ext cx="9886950" cy="9525"/>
          </a:xfrm>
          <a:prstGeom prst="rect">
            <a:avLst/>
          </a:prstGeom>
          <a:solidFill>
            <a:srgbClr val="DCCFC7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C95D27-5D6C-4CEA-BEBE-FBE502A7B39C}"/>
              </a:ext>
            </a:extLst>
          </p:cNvPr>
          <p:cNvSpPr>
            <a:spLocks noGrp="1"/>
          </p:cNvSpPr>
          <p:nvPr/>
        </p:nvSpPr>
        <p:spPr>
          <a:xfrm>
            <a:off x="685800" y="2324100"/>
            <a:ext cx="2095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588" lnSpcReduction="20000"/>
          </a:bodyPr>
          <a:lstStyle/>
          <a:p>
            <a:pPr>
              <a:defRPr sz="127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Account protection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670D82-9ED3-4622-A1DF-651E0984EA60}"/>
              </a:ext>
            </a:extLst>
          </p:cNvPr>
          <p:cNvSpPr>
            <a:spLocks noGrp="1"/>
          </p:cNvSpPr>
          <p:nvPr/>
        </p:nvSpPr>
        <p:spPr>
          <a:xfrm>
            <a:off x="3105150" y="2324100"/>
            <a:ext cx="7524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588" lnSpcReduction="20000"/>
          </a:bodyPr>
          <a:lstStyle/>
          <a:p>
            <a:pPr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275" b="0" dirty="0">
                <a:solidFill>
                  <a:srgbClr val="1A1716"/>
                </a:solidFill>
                <a:latin typeface="Arial"/>
                <a:ea typeface="Arial"/>
                <a:cs typeface="Arial"/>
              </a:rPr>
              <a:t>Lock user access after three failed sign-in attempts</a:t>
            </a:r>
            <a:r>
              <a:rPr lang="en-IN" sz="1275" b="0" dirty="0">
                <a:solidFill>
                  <a:srgbClr val="1A1716"/>
                </a:solidFill>
                <a:latin typeface="Arial"/>
                <a:ea typeface="Arial"/>
                <a:cs typeface="Arial"/>
              </a:rPr>
              <a:t> and wrong security answer</a:t>
            </a:r>
            <a:r>
              <a:rPr sz="1275" b="0" dirty="0">
                <a:solidFill>
                  <a:srgbClr val="1A1716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4A55EF-F2A6-4AB7-AA86-F896C389E9C5}"/>
              </a:ext>
            </a:extLst>
          </p:cNvPr>
          <p:cNvSpPr>
            <a:spLocks noGrp="1"/>
          </p:cNvSpPr>
          <p:nvPr/>
        </p:nvSpPr>
        <p:spPr>
          <a:xfrm>
            <a:off x="685800" y="2771775"/>
            <a:ext cx="9886950" cy="9525"/>
          </a:xfrm>
          <a:prstGeom prst="rect">
            <a:avLst/>
          </a:prstGeom>
          <a:solidFill>
            <a:srgbClr val="DCCFC7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92636C7-BAAB-40D3-877D-93A1B1499C50}"/>
              </a:ext>
            </a:extLst>
          </p:cNvPr>
          <p:cNvSpPr>
            <a:spLocks noGrp="1"/>
          </p:cNvSpPr>
          <p:nvPr/>
        </p:nvSpPr>
        <p:spPr>
          <a:xfrm>
            <a:off x="685800" y="3009900"/>
            <a:ext cx="2095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588" lnSpcReduction="20000"/>
          </a:bodyPr>
          <a:lstStyle/>
          <a:p>
            <a:pPr>
              <a:defRPr sz="127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Checkout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2B1681D-F2CD-4B1C-B01B-ABDEE9EFD45D}"/>
              </a:ext>
            </a:extLst>
          </p:cNvPr>
          <p:cNvSpPr>
            <a:spLocks noGrp="1"/>
          </p:cNvSpPr>
          <p:nvPr/>
        </p:nvSpPr>
        <p:spPr>
          <a:xfrm>
            <a:off x="3105150" y="3009900"/>
            <a:ext cx="7524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100" b="0" dirty="0">
                <a:solidFill>
                  <a:srgbClr val="1A1716"/>
                </a:solidFill>
                <a:latin typeface="Arial"/>
                <a:ea typeface="Arial"/>
                <a:cs typeface="Arial"/>
              </a:rPr>
              <a:t>Place an order only when available funds cover the cart total</a:t>
            </a:r>
            <a:r>
              <a:rPr lang="en-IN" sz="1100" b="0" dirty="0">
                <a:solidFill>
                  <a:srgbClr val="1A1716"/>
                </a:solidFill>
                <a:latin typeface="Arial"/>
                <a:ea typeface="Arial"/>
                <a:cs typeface="Arial"/>
              </a:rPr>
              <a:t> or if payment method is COD</a:t>
            </a:r>
            <a:endParaRPr sz="1100" b="0" dirty="0">
              <a:solidFill>
                <a:srgbClr val="1A171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83734FC-D9DA-4E1F-B08B-5A2CA6117E30}"/>
              </a:ext>
            </a:extLst>
          </p:cNvPr>
          <p:cNvSpPr>
            <a:spLocks noGrp="1"/>
          </p:cNvSpPr>
          <p:nvPr/>
        </p:nvSpPr>
        <p:spPr>
          <a:xfrm>
            <a:off x="685800" y="3457575"/>
            <a:ext cx="9886950" cy="9525"/>
          </a:xfrm>
          <a:prstGeom prst="rect">
            <a:avLst/>
          </a:prstGeom>
          <a:solidFill>
            <a:srgbClr val="DCCFC7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FF0D6A-DC41-452F-968D-E0C0AC4B8757}"/>
              </a:ext>
            </a:extLst>
          </p:cNvPr>
          <p:cNvSpPr>
            <a:spLocks noGrp="1"/>
          </p:cNvSpPr>
          <p:nvPr/>
        </p:nvSpPr>
        <p:spPr>
          <a:xfrm>
            <a:off x="685800" y="3695700"/>
            <a:ext cx="2095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588" lnSpcReduction="20000"/>
          </a:bodyPr>
          <a:lstStyle/>
          <a:p>
            <a:pPr>
              <a:defRPr sz="127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Cancellation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C08F270-41FE-4F31-80E0-83858A6DF72E}"/>
              </a:ext>
            </a:extLst>
          </p:cNvPr>
          <p:cNvSpPr>
            <a:spLocks noGrp="1"/>
          </p:cNvSpPr>
          <p:nvPr/>
        </p:nvSpPr>
        <p:spPr>
          <a:xfrm>
            <a:off x="3105150" y="3695700"/>
            <a:ext cx="7524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100" b="0" dirty="0">
                <a:solidFill>
                  <a:srgbClr val="1A1716"/>
                </a:solidFill>
                <a:latin typeface="Arial"/>
                <a:ea typeface="Arial"/>
                <a:cs typeface="Arial"/>
              </a:rPr>
              <a:t>Refund funds and show the reason when an employee cancels an order.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A5BF635-2BE3-460F-A728-A464E3ACAB67}"/>
              </a:ext>
            </a:extLst>
          </p:cNvPr>
          <p:cNvSpPr>
            <a:spLocks noGrp="1"/>
          </p:cNvSpPr>
          <p:nvPr/>
        </p:nvSpPr>
        <p:spPr>
          <a:xfrm>
            <a:off x="685800" y="4143375"/>
            <a:ext cx="9886950" cy="9525"/>
          </a:xfrm>
          <a:prstGeom prst="rect">
            <a:avLst/>
          </a:prstGeom>
          <a:solidFill>
            <a:srgbClr val="DCCFC7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1CE4DF2-0597-41AF-9405-7D76FB198938}"/>
              </a:ext>
            </a:extLst>
          </p:cNvPr>
          <p:cNvSpPr>
            <a:spLocks noGrp="1"/>
          </p:cNvSpPr>
          <p:nvPr/>
        </p:nvSpPr>
        <p:spPr>
          <a:xfrm>
            <a:off x="685800" y="4381500"/>
            <a:ext cx="2095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588" lnSpcReduction="20000"/>
          </a:bodyPr>
          <a:lstStyle/>
          <a:p>
            <a:pPr>
              <a:defRPr sz="127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Data quality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62702D0-B0CE-411B-9894-A473D473DBB6}"/>
              </a:ext>
            </a:extLst>
          </p:cNvPr>
          <p:cNvSpPr>
            <a:spLocks noGrp="1"/>
          </p:cNvSpPr>
          <p:nvPr/>
        </p:nvSpPr>
        <p:spPr>
          <a:xfrm>
            <a:off x="3105150" y="4381500"/>
            <a:ext cx="7524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100" b="0" dirty="0">
                <a:solidFill>
                  <a:srgbClr val="1A1716"/>
                </a:solidFill>
                <a:latin typeface="Arial"/>
                <a:ea typeface="Arial"/>
                <a:cs typeface="Arial"/>
              </a:rPr>
              <a:t>Generate primary keys and validate required form inputs.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6FBEB48-09CC-4A5B-9DE4-8E90BFFE5DFF}"/>
              </a:ext>
            </a:extLst>
          </p:cNvPr>
          <p:cNvSpPr>
            <a:spLocks noGrp="1"/>
          </p:cNvSpPr>
          <p:nvPr/>
        </p:nvSpPr>
        <p:spPr>
          <a:xfrm>
            <a:off x="685800" y="4829175"/>
            <a:ext cx="9886950" cy="9525"/>
          </a:xfrm>
          <a:prstGeom prst="rect">
            <a:avLst/>
          </a:prstGeom>
          <a:solidFill>
            <a:srgbClr val="DCCFC7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C9A418D-52D7-42CB-8181-5D096DC58DDF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810000" cy="152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0833" lnSpcReduction="20000"/>
          </a:bodyPr>
          <a:lstStyle/>
          <a:p>
            <a:pPr>
              <a:defRPr sz="750" b="0">
                <a:solidFill>
                  <a:srgbClr val="5D585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5854"/>
                </a:solidFill>
                <a:latin typeface="Arial"/>
                <a:ea typeface="Arial"/>
                <a:cs typeface="Arial"/>
              </a:rPr>
              <a:t>Grocers Project  |  Team 1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FAC68FC-215E-458D-84EE-44C4FFB5141C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57200" cy="152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0833" lnSpcReduction="20000"/>
          </a:bodyPr>
          <a:lstStyle/>
          <a:p>
            <a:pPr>
              <a:defRPr sz="750" b="1">
                <a:solidFill>
                  <a:srgbClr val="5D5854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D5854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62152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A68BE5BE-7C8C-4F81-9B79-740D44B460AE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523875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5833" lnSpcReduction="10000"/>
          </a:bodyPr>
          <a:lstStyle/>
          <a:p>
            <a:pPr>
              <a:defRPr sz="9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ONLINE GROCERS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8464C8D-D413-44FC-8C55-8FD954FB1846}"/>
              </a:ext>
            </a:extLst>
          </p:cNvPr>
          <p:cNvSpPr>
            <a:spLocks noGrp="1"/>
          </p:cNvSpPr>
          <p:nvPr/>
        </p:nvSpPr>
        <p:spPr>
          <a:xfrm>
            <a:off x="685800" y="657225"/>
            <a:ext cx="101917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400" b="1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A1716"/>
                </a:solidFill>
                <a:latin typeface="Arial"/>
                <a:ea typeface="Arial"/>
                <a:cs typeface="Arial"/>
              </a:rPr>
              <a:t>Delivery Focus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205777-3183-4ABA-B618-8F59178F1457}"/>
              </a:ext>
            </a:extLst>
          </p:cNvPr>
          <p:cNvSpPr>
            <a:spLocks noGrp="1"/>
          </p:cNvSpPr>
          <p:nvPr/>
        </p:nvSpPr>
        <p:spPr>
          <a:xfrm>
            <a:off x="685800" y="1276350"/>
            <a:ext cx="666750" cy="38100"/>
          </a:xfrm>
          <a:prstGeom prst="rect">
            <a:avLst/>
          </a:prstGeom>
          <a:solidFill>
            <a:srgbClr val="C74634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529226-13E3-4F8C-AE9B-9A0B496AD655}"/>
              </a:ext>
            </a:extLst>
          </p:cNvPr>
          <p:cNvSpPr>
            <a:spLocks noGrp="1"/>
          </p:cNvSpPr>
          <p:nvPr/>
        </p:nvSpPr>
        <p:spPr>
          <a:xfrm>
            <a:off x="685800" y="1628775"/>
            <a:ext cx="8953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6667" lnSpcReduction="10000"/>
          </a:bodyPr>
          <a:lstStyle/>
          <a:p>
            <a:pPr>
              <a:defRPr sz="1500" b="1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A1716"/>
                </a:solidFill>
                <a:latin typeface="Arial"/>
                <a:ea typeface="Arial"/>
                <a:cs typeface="Arial"/>
              </a:rPr>
              <a:t>The first release should cover every required use case before optional enhancements.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52D805-4121-400F-BA0C-FDD9122C0C1C}"/>
              </a:ext>
            </a:extLst>
          </p:cNvPr>
          <p:cNvSpPr>
            <a:spLocks noGrp="1"/>
          </p:cNvSpPr>
          <p:nvPr/>
        </p:nvSpPr>
        <p:spPr>
          <a:xfrm>
            <a:off x="685800" y="2381250"/>
            <a:ext cx="4667250" cy="1066800"/>
          </a:xfrm>
          <a:prstGeom prst="rect">
            <a:avLst/>
          </a:prstGeom>
          <a:solidFill>
            <a:srgbClr val="F6F1EC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497DB81-B879-4D2F-A853-FFA397C8C226}"/>
              </a:ext>
            </a:extLst>
          </p:cNvPr>
          <p:cNvSpPr>
            <a:spLocks noGrp="1"/>
          </p:cNvSpPr>
          <p:nvPr/>
        </p:nvSpPr>
        <p:spPr>
          <a:xfrm>
            <a:off x="952500" y="2590800"/>
            <a:ext cx="1905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0658" lnSpcReduction="10000"/>
          </a:bodyPr>
          <a:lstStyle/>
          <a:p>
            <a:pPr>
              <a:defRPr sz="142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Foundation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775865-DAF8-40CD-B50A-55D5C3DA7492}"/>
              </a:ext>
            </a:extLst>
          </p:cNvPr>
          <p:cNvSpPr>
            <a:spLocks noGrp="1"/>
          </p:cNvSpPr>
          <p:nvPr/>
        </p:nvSpPr>
        <p:spPr>
          <a:xfrm>
            <a:off x="952500" y="2914650"/>
            <a:ext cx="395287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A1716"/>
                </a:solidFill>
                <a:latin typeface="Arial"/>
                <a:ea typeface="Arial"/>
                <a:cs typeface="Arial"/>
              </a:rPr>
              <a:t>Data model, authentication, and role routing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49A1994-A4BD-42AD-94B9-27AA40631CB6}"/>
              </a:ext>
            </a:extLst>
          </p:cNvPr>
          <p:cNvSpPr>
            <a:spLocks noGrp="1"/>
          </p:cNvSpPr>
          <p:nvPr/>
        </p:nvSpPr>
        <p:spPr>
          <a:xfrm>
            <a:off x="5829300" y="2381250"/>
            <a:ext cx="4667250" cy="1066800"/>
          </a:xfrm>
          <a:prstGeom prst="rect">
            <a:avLst/>
          </a:prstGeom>
          <a:solidFill>
            <a:srgbClr val="F6F1EC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5CD7AB7-D36E-4311-9F02-7751F190CF0B}"/>
              </a:ext>
            </a:extLst>
          </p:cNvPr>
          <p:cNvSpPr>
            <a:spLocks noGrp="1"/>
          </p:cNvSpPr>
          <p:nvPr/>
        </p:nvSpPr>
        <p:spPr>
          <a:xfrm>
            <a:off x="6096000" y="2590800"/>
            <a:ext cx="1905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0658" lnSpcReduction="10000"/>
          </a:bodyPr>
          <a:lstStyle/>
          <a:p>
            <a:pPr>
              <a:defRPr sz="142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Core commerce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7E952FA-0263-48B8-9DBF-92303C7F1238}"/>
              </a:ext>
            </a:extLst>
          </p:cNvPr>
          <p:cNvSpPr>
            <a:spLocks noGrp="1"/>
          </p:cNvSpPr>
          <p:nvPr/>
        </p:nvSpPr>
        <p:spPr>
          <a:xfrm>
            <a:off x="6096000" y="2914650"/>
            <a:ext cx="395287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A1716"/>
                </a:solidFill>
                <a:latin typeface="Arial"/>
                <a:ea typeface="Arial"/>
                <a:cs typeface="Arial"/>
              </a:rPr>
              <a:t>Products, cart, funds, checkout, and orders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B66807-8E6E-4CF6-AA0E-DE3D3D471E45}"/>
              </a:ext>
            </a:extLst>
          </p:cNvPr>
          <p:cNvSpPr>
            <a:spLocks noGrp="1"/>
          </p:cNvSpPr>
          <p:nvPr/>
        </p:nvSpPr>
        <p:spPr>
          <a:xfrm>
            <a:off x="685800" y="3867150"/>
            <a:ext cx="4667250" cy="1066800"/>
          </a:xfrm>
          <a:prstGeom prst="rect">
            <a:avLst/>
          </a:prstGeom>
          <a:solidFill>
            <a:srgbClr val="F6F1EC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D7964A5-F2D5-4654-A181-8DDC87116E9D}"/>
              </a:ext>
            </a:extLst>
          </p:cNvPr>
          <p:cNvSpPr>
            <a:spLocks noGrp="1"/>
          </p:cNvSpPr>
          <p:nvPr/>
        </p:nvSpPr>
        <p:spPr>
          <a:xfrm>
            <a:off x="952500" y="4076700"/>
            <a:ext cx="1905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0658" lnSpcReduction="10000"/>
          </a:bodyPr>
          <a:lstStyle/>
          <a:p>
            <a:pPr>
              <a:defRPr sz="142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Operations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3CC05FD-D72B-4AC2-8861-DED585050F87}"/>
              </a:ext>
            </a:extLst>
          </p:cNvPr>
          <p:cNvSpPr>
            <a:spLocks noGrp="1"/>
          </p:cNvSpPr>
          <p:nvPr/>
        </p:nvSpPr>
        <p:spPr>
          <a:xfrm>
            <a:off x="952500" y="4400550"/>
            <a:ext cx="395287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103"/>
          </a:bodyPr>
          <a:lstStyle/>
          <a:p>
            <a:pPr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A1716"/>
                </a:solidFill>
                <a:latin typeface="Arial"/>
                <a:ea typeface="Arial"/>
                <a:cs typeface="Arial"/>
              </a:rPr>
              <a:t>Inventory requests, reports, tickets, and user unlocking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BED15A9-6BFC-46F5-8845-BDDAF35E3765}"/>
              </a:ext>
            </a:extLst>
          </p:cNvPr>
          <p:cNvSpPr>
            <a:spLocks noGrp="1"/>
          </p:cNvSpPr>
          <p:nvPr/>
        </p:nvSpPr>
        <p:spPr>
          <a:xfrm>
            <a:off x="5829300" y="3867150"/>
            <a:ext cx="4667250" cy="1066800"/>
          </a:xfrm>
          <a:prstGeom prst="rect">
            <a:avLst/>
          </a:prstGeom>
          <a:solidFill>
            <a:srgbClr val="F6F1EC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4677D2-50C0-4F72-8900-EEF17BD25D0D}"/>
              </a:ext>
            </a:extLst>
          </p:cNvPr>
          <p:cNvSpPr>
            <a:spLocks noGrp="1"/>
          </p:cNvSpPr>
          <p:nvPr/>
        </p:nvSpPr>
        <p:spPr>
          <a:xfrm>
            <a:off x="6096000" y="4076700"/>
            <a:ext cx="1905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0658" lnSpcReduction="10000"/>
          </a:bodyPr>
          <a:lstStyle/>
          <a:p>
            <a:pPr>
              <a:defRPr sz="142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Quality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63CBA53-2653-46EA-AC51-05237D086EDB}"/>
              </a:ext>
            </a:extLst>
          </p:cNvPr>
          <p:cNvSpPr>
            <a:spLocks noGrp="1"/>
          </p:cNvSpPr>
          <p:nvPr/>
        </p:nvSpPr>
        <p:spPr>
          <a:xfrm>
            <a:off x="6096000" y="4400550"/>
            <a:ext cx="395287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115"/>
          </a:bodyPr>
          <a:lstStyle/>
          <a:p>
            <a:pPr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A1716"/>
                </a:solidFill>
                <a:latin typeface="Arial"/>
                <a:ea typeface="Arial"/>
                <a:cs typeface="Arial"/>
              </a:rPr>
              <a:t>Validation, error messages, and responsive interface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96181FD-CF40-4A0B-9211-8BAC89EC0670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810000" cy="152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0833" lnSpcReduction="10000"/>
          </a:bodyPr>
          <a:lstStyle/>
          <a:p>
            <a:pPr>
              <a:defRPr sz="750" b="0">
                <a:solidFill>
                  <a:srgbClr val="5D585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5854"/>
                </a:solidFill>
                <a:latin typeface="Arial"/>
                <a:ea typeface="Arial"/>
                <a:cs typeface="Arial"/>
              </a:rPr>
              <a:t>Grocers Project  |  Team 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B73E917-EB95-4C39-A31A-92764EEEC1EE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57200" cy="152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0833" lnSpcReduction="10000"/>
          </a:bodyPr>
          <a:lstStyle/>
          <a:p>
            <a:pPr>
              <a:defRPr sz="750" b="1">
                <a:solidFill>
                  <a:srgbClr val="5D5854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D5854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10747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1B930F-2EC3-3770-D545-3358B509D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F9911151-0122-686A-057E-D1E693E9B1EA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523875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5833" lnSpcReduction="20000"/>
          </a:bodyPr>
          <a:lstStyle/>
          <a:p>
            <a:pPr>
              <a:defRPr sz="9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ONLINE GROCERS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13F8086-BF70-D1D8-7A63-4EFA81EDE790}"/>
              </a:ext>
            </a:extLst>
          </p:cNvPr>
          <p:cNvSpPr>
            <a:spLocks noGrp="1"/>
          </p:cNvSpPr>
          <p:nvPr/>
        </p:nvSpPr>
        <p:spPr>
          <a:xfrm>
            <a:off x="685800" y="657225"/>
            <a:ext cx="101917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400" b="1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lang="en-IN" sz="2400" b="1" dirty="0">
                <a:solidFill>
                  <a:srgbClr val="1A1716"/>
                </a:solidFill>
                <a:latin typeface="Arial"/>
                <a:ea typeface="Arial"/>
                <a:cs typeface="Arial"/>
              </a:rPr>
              <a:t>Feature Enhancements</a:t>
            </a:r>
            <a:endParaRPr sz="2400" b="1" dirty="0">
              <a:solidFill>
                <a:srgbClr val="1A171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C165DC2-D893-E04E-A32F-0F37D9A9E642}"/>
              </a:ext>
            </a:extLst>
          </p:cNvPr>
          <p:cNvSpPr>
            <a:spLocks noGrp="1"/>
          </p:cNvSpPr>
          <p:nvPr/>
        </p:nvSpPr>
        <p:spPr>
          <a:xfrm>
            <a:off x="685800" y="1276350"/>
            <a:ext cx="666750" cy="38100"/>
          </a:xfrm>
          <a:prstGeom prst="rect">
            <a:avLst/>
          </a:prstGeom>
          <a:solidFill>
            <a:srgbClr val="C74634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785365-A8DD-BC67-9011-C734AF09775F}"/>
              </a:ext>
            </a:extLst>
          </p:cNvPr>
          <p:cNvSpPr>
            <a:spLocks noGrp="1"/>
          </p:cNvSpPr>
          <p:nvPr/>
        </p:nvSpPr>
        <p:spPr>
          <a:xfrm>
            <a:off x="685800" y="1628775"/>
            <a:ext cx="8953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4167" lnSpcReduction="20000"/>
          </a:bodyPr>
          <a:lstStyle/>
          <a:p>
            <a:pPr>
              <a:defRPr sz="1500" b="1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lang="en-IN" sz="1500" b="1" dirty="0">
                <a:solidFill>
                  <a:srgbClr val="1A1716"/>
                </a:solidFill>
                <a:latin typeface="Arial"/>
                <a:ea typeface="Arial"/>
                <a:cs typeface="Arial"/>
              </a:rPr>
              <a:t>Some of the features we implemented as enhancements to the core requirements:</a:t>
            </a:r>
            <a:endParaRPr sz="1500" b="1" dirty="0">
              <a:solidFill>
                <a:srgbClr val="1A171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DB859E6-0D25-824E-ECCD-F139CE6F70AA}"/>
              </a:ext>
            </a:extLst>
          </p:cNvPr>
          <p:cNvSpPr>
            <a:spLocks noGrp="1"/>
          </p:cNvSpPr>
          <p:nvPr/>
        </p:nvSpPr>
        <p:spPr>
          <a:xfrm>
            <a:off x="685800" y="2381250"/>
            <a:ext cx="4667250" cy="1066800"/>
          </a:xfrm>
          <a:prstGeom prst="rect">
            <a:avLst/>
          </a:prstGeom>
          <a:solidFill>
            <a:srgbClr val="F6F1EC"/>
          </a:solidFill>
          <a:ln w="0"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730137-FAC8-0B70-A336-5DA15138EEED}"/>
              </a:ext>
            </a:extLst>
          </p:cNvPr>
          <p:cNvSpPr>
            <a:spLocks noGrp="1"/>
          </p:cNvSpPr>
          <p:nvPr/>
        </p:nvSpPr>
        <p:spPr>
          <a:xfrm>
            <a:off x="952500" y="2590800"/>
            <a:ext cx="1905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8158" lnSpcReduction="20000"/>
          </a:bodyPr>
          <a:lstStyle/>
          <a:p>
            <a:pPr>
              <a:defRPr sz="142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lang="en-IN" sz="1425" b="1" dirty="0">
                <a:solidFill>
                  <a:srgbClr val="C74634"/>
                </a:solidFill>
                <a:latin typeface="Arial"/>
                <a:ea typeface="Arial"/>
                <a:cs typeface="Arial"/>
              </a:rPr>
              <a:t>AI assistant</a:t>
            </a:r>
            <a:endParaRPr sz="1425" b="1" dirty="0">
              <a:solidFill>
                <a:srgbClr val="C7463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F4984F8-6CD7-8367-F3C0-3D412A0B7909}"/>
              </a:ext>
            </a:extLst>
          </p:cNvPr>
          <p:cNvSpPr>
            <a:spLocks noGrp="1"/>
          </p:cNvSpPr>
          <p:nvPr/>
        </p:nvSpPr>
        <p:spPr>
          <a:xfrm>
            <a:off x="952500" y="2914650"/>
            <a:ext cx="395287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lang="en-IN" sz="1275" b="0" dirty="0">
                <a:solidFill>
                  <a:srgbClr val="1A1716"/>
                </a:solidFill>
                <a:latin typeface="Arial"/>
                <a:ea typeface="Arial"/>
                <a:cs typeface="Arial"/>
              </a:rPr>
              <a:t>Recommends products based on the entered dish. </a:t>
            </a:r>
            <a:endParaRPr sz="1275" b="0" dirty="0">
              <a:solidFill>
                <a:srgbClr val="1A171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B8DBEB8-7F8A-BCC3-8CDA-DD28D24E55AE}"/>
              </a:ext>
            </a:extLst>
          </p:cNvPr>
          <p:cNvSpPr>
            <a:spLocks noGrp="1"/>
          </p:cNvSpPr>
          <p:nvPr/>
        </p:nvSpPr>
        <p:spPr>
          <a:xfrm>
            <a:off x="5829300" y="2381250"/>
            <a:ext cx="4667250" cy="1066800"/>
          </a:xfrm>
          <a:prstGeom prst="rect">
            <a:avLst/>
          </a:prstGeom>
          <a:solidFill>
            <a:srgbClr val="F6F1EC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CB1778C-1C89-5A63-B906-BEF94B15E8BD}"/>
              </a:ext>
            </a:extLst>
          </p:cNvPr>
          <p:cNvSpPr>
            <a:spLocks noGrp="1"/>
          </p:cNvSpPr>
          <p:nvPr/>
        </p:nvSpPr>
        <p:spPr>
          <a:xfrm>
            <a:off x="6096000" y="2590800"/>
            <a:ext cx="1905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8158" lnSpcReduction="20000"/>
          </a:bodyPr>
          <a:lstStyle/>
          <a:p>
            <a:pPr>
              <a:defRPr sz="142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lang="en-IN" sz="1425" b="1" dirty="0">
                <a:solidFill>
                  <a:srgbClr val="C74634"/>
                </a:solidFill>
                <a:latin typeface="Arial"/>
                <a:ea typeface="Arial"/>
                <a:cs typeface="Arial"/>
              </a:rPr>
              <a:t>Added security</a:t>
            </a:r>
            <a:endParaRPr sz="1425" b="1" dirty="0">
              <a:solidFill>
                <a:srgbClr val="C7463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F9C6CB3-DF96-1B9A-221F-BCEA8DDD90A2}"/>
              </a:ext>
            </a:extLst>
          </p:cNvPr>
          <p:cNvSpPr>
            <a:spLocks noGrp="1"/>
          </p:cNvSpPr>
          <p:nvPr/>
        </p:nvSpPr>
        <p:spPr>
          <a:xfrm>
            <a:off x="6096000" y="2914650"/>
            <a:ext cx="395287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lang="en-IN" sz="1300" dirty="0">
                <a:solidFill>
                  <a:srgbClr val="1A1716"/>
                </a:solidFill>
                <a:latin typeface="Arial"/>
                <a:ea typeface="Arial"/>
                <a:cs typeface="Arial"/>
              </a:rPr>
              <a:t>Secret security question-answer feature made available for users</a:t>
            </a:r>
            <a:endParaRPr sz="1300" b="0" dirty="0">
              <a:solidFill>
                <a:srgbClr val="1A171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3468543-3C85-86A0-F8FE-7A9FCD9CCFD2}"/>
              </a:ext>
            </a:extLst>
          </p:cNvPr>
          <p:cNvSpPr>
            <a:spLocks noGrp="1"/>
          </p:cNvSpPr>
          <p:nvPr/>
        </p:nvSpPr>
        <p:spPr>
          <a:xfrm>
            <a:off x="685800" y="3867150"/>
            <a:ext cx="4667250" cy="1066800"/>
          </a:xfrm>
          <a:prstGeom prst="rect">
            <a:avLst/>
          </a:prstGeom>
          <a:solidFill>
            <a:srgbClr val="F6F1EC"/>
          </a:solidFill>
          <a:ln w="0"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7EF506-1AAD-F272-2AEF-B078EAA489B0}"/>
              </a:ext>
            </a:extLst>
          </p:cNvPr>
          <p:cNvSpPr>
            <a:spLocks noGrp="1"/>
          </p:cNvSpPr>
          <p:nvPr/>
        </p:nvSpPr>
        <p:spPr>
          <a:xfrm>
            <a:off x="952500" y="4076700"/>
            <a:ext cx="1905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8158" lnSpcReduction="20000"/>
          </a:bodyPr>
          <a:lstStyle/>
          <a:p>
            <a:pPr>
              <a:defRPr sz="142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lang="en-IN" sz="1425" b="1" dirty="0">
                <a:solidFill>
                  <a:srgbClr val="C74634"/>
                </a:solidFill>
                <a:latin typeface="Arial"/>
                <a:ea typeface="Arial"/>
                <a:cs typeface="Arial"/>
              </a:rPr>
              <a:t>Vector Search</a:t>
            </a:r>
            <a:endParaRPr sz="1425" b="1" dirty="0">
              <a:solidFill>
                <a:srgbClr val="C7463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9098BB4-3D82-A78A-5330-5405342234D8}"/>
              </a:ext>
            </a:extLst>
          </p:cNvPr>
          <p:cNvSpPr>
            <a:spLocks noGrp="1"/>
          </p:cNvSpPr>
          <p:nvPr/>
        </p:nvSpPr>
        <p:spPr>
          <a:xfrm>
            <a:off x="952500" y="4400550"/>
            <a:ext cx="395287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lang="en-IN" sz="1300" b="0" dirty="0">
                <a:solidFill>
                  <a:srgbClr val="1A1716"/>
                </a:solidFill>
                <a:latin typeface="Arial"/>
                <a:ea typeface="Arial"/>
                <a:cs typeface="Arial"/>
              </a:rPr>
              <a:t>Recommends products which are semantically similar to the queried product</a:t>
            </a:r>
            <a:endParaRPr sz="1300" b="0" dirty="0">
              <a:solidFill>
                <a:srgbClr val="1A171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ED9DE9B-96F6-E85D-EEEC-B0FE2563B9CE}"/>
              </a:ext>
            </a:extLst>
          </p:cNvPr>
          <p:cNvSpPr>
            <a:spLocks noGrp="1"/>
          </p:cNvSpPr>
          <p:nvPr/>
        </p:nvSpPr>
        <p:spPr>
          <a:xfrm>
            <a:off x="5829300" y="3867150"/>
            <a:ext cx="4667250" cy="1066800"/>
          </a:xfrm>
          <a:prstGeom prst="rect">
            <a:avLst/>
          </a:prstGeom>
          <a:solidFill>
            <a:srgbClr val="F6F1EC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4BC3743-22B9-2E31-AA35-6D8BEC633D1D}"/>
              </a:ext>
            </a:extLst>
          </p:cNvPr>
          <p:cNvSpPr>
            <a:spLocks noGrp="1"/>
          </p:cNvSpPr>
          <p:nvPr/>
        </p:nvSpPr>
        <p:spPr>
          <a:xfrm>
            <a:off x="6096000" y="4076700"/>
            <a:ext cx="1905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42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lang="en-IN" sz="1000" b="1" dirty="0">
                <a:solidFill>
                  <a:srgbClr val="C74634"/>
                </a:solidFill>
                <a:latin typeface="Arial"/>
                <a:ea typeface="Arial"/>
                <a:cs typeface="Arial"/>
              </a:rPr>
              <a:t>One click inventory management</a:t>
            </a:r>
            <a:endParaRPr sz="1000" b="1" dirty="0">
              <a:solidFill>
                <a:srgbClr val="C7463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C38E71C-E264-D4B1-6BD3-0C2E223A281B}"/>
              </a:ext>
            </a:extLst>
          </p:cNvPr>
          <p:cNvSpPr>
            <a:spLocks noGrp="1"/>
          </p:cNvSpPr>
          <p:nvPr/>
        </p:nvSpPr>
        <p:spPr>
          <a:xfrm>
            <a:off x="6096000" y="4400550"/>
            <a:ext cx="395287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9615" lnSpcReduction="10000"/>
          </a:bodyPr>
          <a:lstStyle/>
          <a:p>
            <a:pPr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lang="en-IN" sz="1275" b="0" dirty="0">
                <a:solidFill>
                  <a:srgbClr val="1A1716"/>
                </a:solidFill>
                <a:latin typeface="Arial"/>
                <a:ea typeface="Arial"/>
                <a:cs typeface="Arial"/>
              </a:rPr>
              <a:t>Smooth approval and denials of </a:t>
            </a:r>
            <a:r>
              <a:rPr lang="en-IN" sz="1275" dirty="0">
                <a:solidFill>
                  <a:srgbClr val="1A1716"/>
                </a:solidFill>
                <a:latin typeface="Arial"/>
                <a:ea typeface="Arial"/>
                <a:cs typeface="Arial"/>
              </a:rPr>
              <a:t>stock updates</a:t>
            </a:r>
            <a:endParaRPr sz="1275" b="0" dirty="0">
              <a:solidFill>
                <a:srgbClr val="1A171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7696FC4-EA25-D3F0-09C7-26F760AC8B7A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810000" cy="152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8333" lnSpcReduction="20000"/>
          </a:bodyPr>
          <a:lstStyle/>
          <a:p>
            <a:pPr>
              <a:defRPr sz="750" b="0">
                <a:solidFill>
                  <a:srgbClr val="5D585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5854"/>
                </a:solidFill>
                <a:latin typeface="Arial"/>
                <a:ea typeface="Arial"/>
                <a:cs typeface="Arial"/>
              </a:rPr>
              <a:t>Grocers Project  |  Team 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5A912A5-8203-B0C8-1BAE-6FEB8EA9D6A8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57200" cy="152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8333" lnSpcReduction="20000"/>
          </a:bodyPr>
          <a:lstStyle/>
          <a:p>
            <a:pPr>
              <a:defRPr sz="750" b="1">
                <a:solidFill>
                  <a:srgbClr val="5D5854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D5854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239945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979F24-98E8-C75A-0473-104341FF9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49216BA6-D78F-AFF7-7B29-9B32C7745B9F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523875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5833" lnSpcReduction="20000"/>
          </a:bodyPr>
          <a:lstStyle/>
          <a:p>
            <a:pPr>
              <a:defRPr sz="9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ONLINE GROCERS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9B7AF5C-4A6B-1113-974A-FB335C434EBC}"/>
              </a:ext>
            </a:extLst>
          </p:cNvPr>
          <p:cNvSpPr>
            <a:spLocks noGrp="1"/>
          </p:cNvSpPr>
          <p:nvPr/>
        </p:nvSpPr>
        <p:spPr>
          <a:xfrm>
            <a:off x="685800" y="657225"/>
            <a:ext cx="101917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400" b="1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lang="en-IN" sz="2400" b="1" dirty="0">
                <a:solidFill>
                  <a:srgbClr val="1A1716"/>
                </a:solidFill>
                <a:latin typeface="Arial"/>
                <a:ea typeface="Arial"/>
                <a:cs typeface="Arial"/>
              </a:rPr>
              <a:t>Key Learnings</a:t>
            </a:r>
            <a:endParaRPr sz="2400" b="1" dirty="0">
              <a:solidFill>
                <a:srgbClr val="1A171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FFE0B3-8D11-0A75-4E7B-ECBEFEA63123}"/>
              </a:ext>
            </a:extLst>
          </p:cNvPr>
          <p:cNvSpPr>
            <a:spLocks noGrp="1"/>
          </p:cNvSpPr>
          <p:nvPr/>
        </p:nvSpPr>
        <p:spPr>
          <a:xfrm>
            <a:off x="685800" y="1276350"/>
            <a:ext cx="666750" cy="38100"/>
          </a:xfrm>
          <a:prstGeom prst="rect">
            <a:avLst/>
          </a:prstGeom>
          <a:solidFill>
            <a:srgbClr val="C74634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8D26D0-2D2E-765A-73EC-D8FF4EFDF485}"/>
              </a:ext>
            </a:extLst>
          </p:cNvPr>
          <p:cNvSpPr>
            <a:spLocks noGrp="1"/>
          </p:cNvSpPr>
          <p:nvPr/>
        </p:nvSpPr>
        <p:spPr>
          <a:xfrm>
            <a:off x="685800" y="1628775"/>
            <a:ext cx="8953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4167" lnSpcReduction="20000"/>
          </a:bodyPr>
          <a:lstStyle/>
          <a:p>
            <a:pPr>
              <a:defRPr sz="1500" b="1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lang="en-IN" sz="1500" b="1" dirty="0">
                <a:solidFill>
                  <a:srgbClr val="1A1716"/>
                </a:solidFill>
                <a:latin typeface="Arial"/>
                <a:ea typeface="Arial"/>
                <a:cs typeface="Arial"/>
              </a:rPr>
              <a:t>Takeaways from the project:</a:t>
            </a:r>
            <a:endParaRPr sz="1500" b="1" dirty="0">
              <a:solidFill>
                <a:srgbClr val="1A171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539045-65CF-940B-0F4C-5EDC864FA872}"/>
              </a:ext>
            </a:extLst>
          </p:cNvPr>
          <p:cNvSpPr>
            <a:spLocks noGrp="1"/>
          </p:cNvSpPr>
          <p:nvPr/>
        </p:nvSpPr>
        <p:spPr>
          <a:xfrm>
            <a:off x="685800" y="2381250"/>
            <a:ext cx="4667250" cy="1066800"/>
          </a:xfrm>
          <a:prstGeom prst="rect">
            <a:avLst/>
          </a:prstGeom>
          <a:solidFill>
            <a:srgbClr val="F6F1EC"/>
          </a:solidFill>
          <a:ln w="0"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4E1557-5601-BCAD-D372-388386250C53}"/>
              </a:ext>
            </a:extLst>
          </p:cNvPr>
          <p:cNvSpPr>
            <a:spLocks noGrp="1"/>
          </p:cNvSpPr>
          <p:nvPr/>
        </p:nvSpPr>
        <p:spPr>
          <a:xfrm>
            <a:off x="952500" y="2428875"/>
            <a:ext cx="3952875" cy="4476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42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lang="en-IN" sz="1400" b="1" dirty="0"/>
              <a:t>REST API Design</a:t>
            </a:r>
            <a:endParaRPr sz="1400" b="1" dirty="0">
              <a:solidFill>
                <a:srgbClr val="C7463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BC443AE-8F1F-EB10-B8C8-57CD03FE6BDD}"/>
              </a:ext>
            </a:extLst>
          </p:cNvPr>
          <p:cNvSpPr>
            <a:spLocks noGrp="1"/>
          </p:cNvSpPr>
          <p:nvPr/>
        </p:nvSpPr>
        <p:spPr>
          <a:xfrm>
            <a:off x="952500" y="2971800"/>
            <a:ext cx="44005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lang="en-IN" sz="1275" dirty="0"/>
              <a:t>Learned how backend APIs connect products, carts, orders, users, and employee operations.</a:t>
            </a:r>
            <a:endParaRPr sz="1300" b="0" dirty="0">
              <a:solidFill>
                <a:srgbClr val="1A171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9F3356A-B51B-EC52-5055-A5865F0D1D47}"/>
              </a:ext>
            </a:extLst>
          </p:cNvPr>
          <p:cNvSpPr>
            <a:spLocks noGrp="1"/>
          </p:cNvSpPr>
          <p:nvPr/>
        </p:nvSpPr>
        <p:spPr>
          <a:xfrm>
            <a:off x="5829300" y="2381250"/>
            <a:ext cx="4667250" cy="1066800"/>
          </a:xfrm>
          <a:prstGeom prst="rect">
            <a:avLst/>
          </a:prstGeom>
          <a:solidFill>
            <a:srgbClr val="F6F1EC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0CDD22-A87A-AB44-1A87-552077721D87}"/>
              </a:ext>
            </a:extLst>
          </p:cNvPr>
          <p:cNvSpPr>
            <a:spLocks noGrp="1"/>
          </p:cNvSpPr>
          <p:nvPr/>
        </p:nvSpPr>
        <p:spPr>
          <a:xfrm>
            <a:off x="6095999" y="2495550"/>
            <a:ext cx="3952875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42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lang="en-IN" sz="1425" b="1" dirty="0"/>
              <a:t>Role-Based Application Design</a:t>
            </a:r>
            <a:endParaRPr sz="1200" b="1" dirty="0">
              <a:solidFill>
                <a:srgbClr val="C7463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690D7F2-8B0C-701D-BF82-AB01FB9C7543}"/>
              </a:ext>
            </a:extLst>
          </p:cNvPr>
          <p:cNvSpPr>
            <a:spLocks noGrp="1"/>
          </p:cNvSpPr>
          <p:nvPr/>
        </p:nvSpPr>
        <p:spPr>
          <a:xfrm>
            <a:off x="6096000" y="2914650"/>
            <a:ext cx="395287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lang="en-IN" sz="1275" dirty="0"/>
              <a:t>Learned to tailor screens and permissions for Admin, User, and Employee roles.</a:t>
            </a:r>
            <a:endParaRPr sz="1300" b="0" dirty="0">
              <a:solidFill>
                <a:srgbClr val="1A171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D95EADB-AFF1-E4B7-7603-EBAA082E7724}"/>
              </a:ext>
            </a:extLst>
          </p:cNvPr>
          <p:cNvSpPr>
            <a:spLocks noGrp="1"/>
          </p:cNvSpPr>
          <p:nvPr/>
        </p:nvSpPr>
        <p:spPr>
          <a:xfrm>
            <a:off x="685800" y="3867150"/>
            <a:ext cx="4667250" cy="1066800"/>
          </a:xfrm>
          <a:prstGeom prst="rect">
            <a:avLst/>
          </a:prstGeom>
          <a:solidFill>
            <a:srgbClr val="F6F1EC"/>
          </a:solidFill>
          <a:ln w="0"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67BFC1F-1F38-1334-19BD-AD1CD6D92EB1}"/>
              </a:ext>
            </a:extLst>
          </p:cNvPr>
          <p:cNvSpPr>
            <a:spLocks noGrp="1"/>
          </p:cNvSpPr>
          <p:nvPr/>
        </p:nvSpPr>
        <p:spPr>
          <a:xfrm>
            <a:off x="952500" y="4019550"/>
            <a:ext cx="322233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42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lang="en-IN" sz="1425" b="1" dirty="0"/>
              <a:t>Database Relationships</a:t>
            </a:r>
            <a:endParaRPr sz="1200" b="1" dirty="0">
              <a:solidFill>
                <a:srgbClr val="C7463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8FA42AF-2976-7AB6-1D9B-B8CDAB8117CD}"/>
              </a:ext>
            </a:extLst>
          </p:cNvPr>
          <p:cNvSpPr>
            <a:spLocks noGrp="1"/>
          </p:cNvSpPr>
          <p:nvPr/>
        </p:nvSpPr>
        <p:spPr>
          <a:xfrm>
            <a:off x="952500" y="4400550"/>
            <a:ext cx="395287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lang="en-IN" sz="1275" dirty="0"/>
              <a:t>Learned to structure and manage linked data such as users, products, orders, funds, and tickets.</a:t>
            </a:r>
            <a:endParaRPr sz="1300" b="0" dirty="0">
              <a:solidFill>
                <a:srgbClr val="1A171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71A7E0A-59CC-F3C1-606A-CFC482D616FC}"/>
              </a:ext>
            </a:extLst>
          </p:cNvPr>
          <p:cNvSpPr>
            <a:spLocks noGrp="1"/>
          </p:cNvSpPr>
          <p:nvPr/>
        </p:nvSpPr>
        <p:spPr>
          <a:xfrm>
            <a:off x="5829300" y="3867150"/>
            <a:ext cx="4667250" cy="1066800"/>
          </a:xfrm>
          <a:prstGeom prst="rect">
            <a:avLst/>
          </a:prstGeom>
          <a:solidFill>
            <a:srgbClr val="F6F1EC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C7F4386-8338-5EDE-FC28-2CE691339A9F}"/>
              </a:ext>
            </a:extLst>
          </p:cNvPr>
          <p:cNvSpPr>
            <a:spLocks noGrp="1"/>
          </p:cNvSpPr>
          <p:nvPr/>
        </p:nvSpPr>
        <p:spPr>
          <a:xfrm>
            <a:off x="6095999" y="4019550"/>
            <a:ext cx="4110182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42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lang="en-IN" sz="1425" b="1" dirty="0"/>
              <a:t>Validation and Error Handling</a:t>
            </a:r>
            <a:endParaRPr sz="1200" b="1" dirty="0">
              <a:solidFill>
                <a:srgbClr val="C7463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D9D5AFA-D35B-B938-7B3C-4FE2D827AD0F}"/>
              </a:ext>
            </a:extLst>
          </p:cNvPr>
          <p:cNvSpPr>
            <a:spLocks noGrp="1"/>
          </p:cNvSpPr>
          <p:nvPr/>
        </p:nvSpPr>
        <p:spPr>
          <a:xfrm>
            <a:off x="6096000" y="4400550"/>
            <a:ext cx="395287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lang="en-IN" sz="1275" dirty="0"/>
              <a:t>Learned how clear validation rules and meaningful messages improve reliability and user experience.</a:t>
            </a:r>
            <a:endParaRPr sz="1200" b="0" dirty="0">
              <a:solidFill>
                <a:srgbClr val="1A171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B2EEB37-23A4-BA6F-1AFA-C5E52C799CC0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810000" cy="152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8333" lnSpcReduction="20000"/>
          </a:bodyPr>
          <a:lstStyle/>
          <a:p>
            <a:pPr>
              <a:defRPr sz="750" b="0">
                <a:solidFill>
                  <a:srgbClr val="5D585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5854"/>
                </a:solidFill>
                <a:latin typeface="Arial"/>
                <a:ea typeface="Arial"/>
                <a:cs typeface="Arial"/>
              </a:rPr>
              <a:t>Grocers Project  |  Team 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9251D2B-3339-FADF-9765-93BF1817B352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57200" cy="152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8333" lnSpcReduction="20000"/>
          </a:bodyPr>
          <a:lstStyle/>
          <a:p>
            <a:pPr>
              <a:defRPr sz="750" b="1">
                <a:solidFill>
                  <a:srgbClr val="5D5854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D5854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842835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C04F0C-D751-DB47-6435-D6FEE0426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A62F68B8-D596-9C87-AFAD-3EFADE6DD528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523875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5833" lnSpcReduction="20000"/>
          </a:bodyPr>
          <a:lstStyle/>
          <a:p>
            <a:pPr>
              <a:defRPr sz="9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ONLINE GROCERS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2825F7C-6FB5-37CC-73CE-3C4766DAAC99}"/>
              </a:ext>
            </a:extLst>
          </p:cNvPr>
          <p:cNvSpPr>
            <a:spLocks noGrp="1"/>
          </p:cNvSpPr>
          <p:nvPr/>
        </p:nvSpPr>
        <p:spPr>
          <a:xfrm>
            <a:off x="685800" y="657225"/>
            <a:ext cx="101917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400" b="1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lang="en-IN" sz="2400" b="1" dirty="0">
                <a:solidFill>
                  <a:srgbClr val="1A1716"/>
                </a:solidFill>
                <a:latin typeface="Arial"/>
                <a:ea typeface="Arial"/>
                <a:cs typeface="Arial"/>
              </a:rPr>
              <a:t>Challenges</a:t>
            </a:r>
            <a:endParaRPr sz="2400" b="1" dirty="0">
              <a:solidFill>
                <a:srgbClr val="1A171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683467-B896-2268-AE0F-FEA7A580D571}"/>
              </a:ext>
            </a:extLst>
          </p:cNvPr>
          <p:cNvSpPr>
            <a:spLocks noGrp="1"/>
          </p:cNvSpPr>
          <p:nvPr/>
        </p:nvSpPr>
        <p:spPr>
          <a:xfrm>
            <a:off x="685800" y="1276350"/>
            <a:ext cx="666750" cy="38100"/>
          </a:xfrm>
          <a:prstGeom prst="rect">
            <a:avLst/>
          </a:prstGeom>
          <a:solidFill>
            <a:srgbClr val="C74634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AE09B6-C1F4-D513-3E0D-3241FBB82155}"/>
              </a:ext>
            </a:extLst>
          </p:cNvPr>
          <p:cNvSpPr>
            <a:spLocks noGrp="1"/>
          </p:cNvSpPr>
          <p:nvPr/>
        </p:nvSpPr>
        <p:spPr>
          <a:xfrm>
            <a:off x="685800" y="1628775"/>
            <a:ext cx="8953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4167" lnSpcReduction="20000"/>
          </a:bodyPr>
          <a:lstStyle/>
          <a:p>
            <a:pPr>
              <a:defRPr sz="1500" b="1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lang="en-IN" sz="1500" b="1" dirty="0">
                <a:solidFill>
                  <a:srgbClr val="1A1716"/>
                </a:solidFill>
                <a:latin typeface="Arial"/>
                <a:ea typeface="Arial"/>
                <a:cs typeface="Arial"/>
              </a:rPr>
              <a:t>Challenges we faced during the development of the project</a:t>
            </a:r>
            <a:endParaRPr sz="1500" b="1" dirty="0">
              <a:solidFill>
                <a:srgbClr val="1A171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C74D59-901C-A200-0E82-739807F6BFDD}"/>
              </a:ext>
            </a:extLst>
          </p:cNvPr>
          <p:cNvSpPr>
            <a:spLocks noGrp="1"/>
          </p:cNvSpPr>
          <p:nvPr/>
        </p:nvSpPr>
        <p:spPr>
          <a:xfrm>
            <a:off x="685800" y="2381250"/>
            <a:ext cx="4667250" cy="1066800"/>
          </a:xfrm>
          <a:prstGeom prst="rect">
            <a:avLst/>
          </a:prstGeom>
          <a:solidFill>
            <a:srgbClr val="F6F1EC"/>
          </a:solidFill>
          <a:ln w="0"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126643-7454-12D5-DB67-B6F04B54A0E6}"/>
              </a:ext>
            </a:extLst>
          </p:cNvPr>
          <p:cNvSpPr>
            <a:spLocks noGrp="1"/>
          </p:cNvSpPr>
          <p:nvPr/>
        </p:nvSpPr>
        <p:spPr>
          <a:xfrm>
            <a:off x="952500" y="2428875"/>
            <a:ext cx="3952875" cy="4476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42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lang="en-IN" sz="1200" b="1" dirty="0"/>
              <a:t>Role-Based Access Control</a:t>
            </a:r>
            <a:endParaRPr sz="1200" b="1" dirty="0">
              <a:solidFill>
                <a:srgbClr val="C7463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80DEFAA-EE4B-4120-9D54-16C7A75C7520}"/>
              </a:ext>
            </a:extLst>
          </p:cNvPr>
          <p:cNvSpPr>
            <a:spLocks noGrp="1"/>
          </p:cNvSpPr>
          <p:nvPr/>
        </p:nvSpPr>
        <p:spPr>
          <a:xfrm>
            <a:off x="952500" y="2971800"/>
            <a:ext cx="44005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lang="en-IN" sz="1300" dirty="0"/>
              <a:t>Designing separate Admin, User, and Employee workflows while keeping authentication secure and simple.</a:t>
            </a:r>
            <a:endParaRPr sz="1300" b="0" dirty="0">
              <a:solidFill>
                <a:srgbClr val="1A171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F72C9D-6922-ED75-2DA7-22A2EC7FD419}"/>
              </a:ext>
            </a:extLst>
          </p:cNvPr>
          <p:cNvSpPr>
            <a:spLocks noGrp="1"/>
          </p:cNvSpPr>
          <p:nvPr/>
        </p:nvSpPr>
        <p:spPr>
          <a:xfrm>
            <a:off x="5829300" y="2381250"/>
            <a:ext cx="4667250" cy="1066800"/>
          </a:xfrm>
          <a:prstGeom prst="rect">
            <a:avLst/>
          </a:prstGeom>
          <a:solidFill>
            <a:srgbClr val="F6F1EC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063332-8FD2-A7C0-DAF1-DDBD31D37BB8}"/>
              </a:ext>
            </a:extLst>
          </p:cNvPr>
          <p:cNvSpPr>
            <a:spLocks noGrp="1"/>
          </p:cNvSpPr>
          <p:nvPr/>
        </p:nvSpPr>
        <p:spPr>
          <a:xfrm>
            <a:off x="6095999" y="2495550"/>
            <a:ext cx="3952875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42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lang="en-IN" sz="1200" b="1" dirty="0"/>
              <a:t>Order and Inventory Coordination</a:t>
            </a:r>
            <a:endParaRPr sz="1200" b="1" dirty="0">
              <a:solidFill>
                <a:srgbClr val="C7463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D8CB80-9E33-08A6-6968-10BCC31DAC6B}"/>
              </a:ext>
            </a:extLst>
          </p:cNvPr>
          <p:cNvSpPr>
            <a:spLocks noGrp="1"/>
          </p:cNvSpPr>
          <p:nvPr/>
        </p:nvSpPr>
        <p:spPr>
          <a:xfrm>
            <a:off x="6096000" y="2914650"/>
            <a:ext cx="395287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lang="en-IN" sz="1300" dirty="0">
                <a:solidFill>
                  <a:srgbClr val="1A1716"/>
                </a:solidFill>
                <a:latin typeface="Arial"/>
                <a:ea typeface="Arial"/>
                <a:cs typeface="Arial"/>
              </a:rPr>
              <a:t>Secret security question-answer feature made available for users</a:t>
            </a:r>
            <a:endParaRPr sz="1300" b="0" dirty="0">
              <a:solidFill>
                <a:srgbClr val="1A171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F7095D-1D47-733E-489D-71F8ECCD63A9}"/>
              </a:ext>
            </a:extLst>
          </p:cNvPr>
          <p:cNvSpPr>
            <a:spLocks noGrp="1"/>
          </p:cNvSpPr>
          <p:nvPr/>
        </p:nvSpPr>
        <p:spPr>
          <a:xfrm>
            <a:off x="685800" y="3867150"/>
            <a:ext cx="4667250" cy="1066800"/>
          </a:xfrm>
          <a:prstGeom prst="rect">
            <a:avLst/>
          </a:prstGeom>
          <a:solidFill>
            <a:srgbClr val="F6F1EC"/>
          </a:solidFill>
          <a:ln w="0"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C65C0F3-1E74-222E-8BDE-292FB49FA47D}"/>
              </a:ext>
            </a:extLst>
          </p:cNvPr>
          <p:cNvSpPr>
            <a:spLocks noGrp="1"/>
          </p:cNvSpPr>
          <p:nvPr/>
        </p:nvSpPr>
        <p:spPr>
          <a:xfrm>
            <a:off x="952500" y="4019550"/>
            <a:ext cx="322233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42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lang="en-IN" sz="1200" b="1" dirty="0"/>
              <a:t>Funds and Checkout Validation</a:t>
            </a:r>
            <a:endParaRPr sz="1200" b="1" dirty="0">
              <a:solidFill>
                <a:srgbClr val="C7463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6F5122E-44F9-B793-FBEA-3E4D2AB4173D}"/>
              </a:ext>
            </a:extLst>
          </p:cNvPr>
          <p:cNvSpPr>
            <a:spLocks noGrp="1"/>
          </p:cNvSpPr>
          <p:nvPr/>
        </p:nvSpPr>
        <p:spPr>
          <a:xfrm>
            <a:off x="952500" y="4400550"/>
            <a:ext cx="395287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lang="en-IN" sz="1275" dirty="0"/>
              <a:t>Preventing invalid purchases by checking account funds and handling refunds for cancelled orders.</a:t>
            </a:r>
            <a:endParaRPr sz="1300" b="0" dirty="0">
              <a:solidFill>
                <a:srgbClr val="1A171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DF1FDFD-2082-646F-FD86-E0C4F59878BF}"/>
              </a:ext>
            </a:extLst>
          </p:cNvPr>
          <p:cNvSpPr>
            <a:spLocks noGrp="1"/>
          </p:cNvSpPr>
          <p:nvPr/>
        </p:nvSpPr>
        <p:spPr>
          <a:xfrm>
            <a:off x="5829300" y="3867150"/>
            <a:ext cx="4667250" cy="1066800"/>
          </a:xfrm>
          <a:prstGeom prst="rect">
            <a:avLst/>
          </a:prstGeom>
          <a:solidFill>
            <a:srgbClr val="F6F1EC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08D512-9BBB-F8BD-5B39-A37ACB771708}"/>
              </a:ext>
            </a:extLst>
          </p:cNvPr>
          <p:cNvSpPr>
            <a:spLocks noGrp="1"/>
          </p:cNvSpPr>
          <p:nvPr/>
        </p:nvSpPr>
        <p:spPr>
          <a:xfrm>
            <a:off x="6095999" y="4019550"/>
            <a:ext cx="4110182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42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lang="en-IN" sz="1200" b="1" dirty="0"/>
              <a:t>Robust User Experience</a:t>
            </a:r>
            <a:endParaRPr sz="1200" b="1" dirty="0">
              <a:solidFill>
                <a:srgbClr val="C7463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37B109E-CD18-88C5-C2EA-1ABB1960ED75}"/>
              </a:ext>
            </a:extLst>
          </p:cNvPr>
          <p:cNvSpPr>
            <a:spLocks noGrp="1"/>
          </p:cNvSpPr>
          <p:nvPr/>
        </p:nvSpPr>
        <p:spPr>
          <a:xfrm>
            <a:off x="6096000" y="4400550"/>
            <a:ext cx="395287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lang="en-IN" sz="1200" dirty="0"/>
              <a:t>Building clear validation, error messages, account-lock handling, and responsive single-page dashboards.</a:t>
            </a:r>
            <a:endParaRPr sz="1200" b="0" dirty="0">
              <a:solidFill>
                <a:srgbClr val="1A171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B42FC30-A846-7259-AA45-349F9488575D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810000" cy="152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8333" lnSpcReduction="20000"/>
          </a:bodyPr>
          <a:lstStyle/>
          <a:p>
            <a:pPr>
              <a:defRPr sz="750" b="0">
                <a:solidFill>
                  <a:srgbClr val="5D585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5854"/>
                </a:solidFill>
                <a:latin typeface="Arial"/>
                <a:ea typeface="Arial"/>
                <a:cs typeface="Arial"/>
              </a:rPr>
              <a:t>Grocers Project  |  Team 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C7E68F1-4E91-5D63-B3F1-79730BFDE780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57200" cy="152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8333" lnSpcReduction="20000"/>
          </a:bodyPr>
          <a:lstStyle/>
          <a:p>
            <a:pPr>
              <a:defRPr sz="750" b="1">
                <a:solidFill>
                  <a:srgbClr val="5D5854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D5854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1138671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49FB38-7EC6-1A59-5F1C-9687A743D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3043D1E7-EFA0-6918-AC11-0F05FD141072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523875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5833" lnSpcReduction="20000"/>
          </a:bodyPr>
          <a:lstStyle/>
          <a:p>
            <a:pPr>
              <a:defRPr sz="9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ONLINE GROCERS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5246259-0CB7-8E69-CB66-D9D13C954109}"/>
              </a:ext>
            </a:extLst>
          </p:cNvPr>
          <p:cNvSpPr>
            <a:spLocks noGrp="1"/>
          </p:cNvSpPr>
          <p:nvPr/>
        </p:nvSpPr>
        <p:spPr>
          <a:xfrm>
            <a:off x="685800" y="657225"/>
            <a:ext cx="101917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400" b="1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lang="en-IN" sz="2400" b="1" dirty="0">
                <a:solidFill>
                  <a:srgbClr val="1A1716"/>
                </a:solidFill>
                <a:latin typeface="Arial"/>
                <a:ea typeface="Arial"/>
                <a:cs typeface="Arial"/>
              </a:rPr>
              <a:t>Acknowledgement</a:t>
            </a:r>
            <a:endParaRPr sz="2400" b="1" dirty="0">
              <a:solidFill>
                <a:srgbClr val="1A171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36835A5-21BC-4954-B40E-6C011037F89D}"/>
              </a:ext>
            </a:extLst>
          </p:cNvPr>
          <p:cNvSpPr>
            <a:spLocks noGrp="1"/>
          </p:cNvSpPr>
          <p:nvPr/>
        </p:nvSpPr>
        <p:spPr>
          <a:xfrm>
            <a:off x="685800" y="1276350"/>
            <a:ext cx="666750" cy="38100"/>
          </a:xfrm>
          <a:prstGeom prst="rect">
            <a:avLst/>
          </a:prstGeom>
          <a:solidFill>
            <a:srgbClr val="C74634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1BCBA2F-8CC8-AE4C-A3DE-299C5F81B690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905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444" lnSpcReduction="10000"/>
          </a:bodyPr>
          <a:lstStyle/>
          <a:p>
            <a:pPr>
              <a:defRPr sz="13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endParaRPr sz="1350" b="1" dirty="0">
              <a:solidFill>
                <a:srgbClr val="C7463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80B0FC8-FFC9-DFC5-61E8-E12E9F500543}"/>
              </a:ext>
            </a:extLst>
          </p:cNvPr>
          <p:cNvSpPr>
            <a:spLocks noGrp="1"/>
          </p:cNvSpPr>
          <p:nvPr/>
        </p:nvSpPr>
        <p:spPr>
          <a:xfrm>
            <a:off x="685799" y="1928812"/>
            <a:ext cx="8901545" cy="857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056"/>
          </a:bodyPr>
          <a:lstStyle/>
          <a:p>
            <a:pPr>
              <a:defRPr sz="1800" b="1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lang="en-IN" sz="1800" b="1" dirty="0">
                <a:solidFill>
                  <a:srgbClr val="1A1716"/>
                </a:solidFill>
                <a:latin typeface="Arial"/>
                <a:ea typeface="Arial"/>
                <a:cs typeface="Arial"/>
              </a:rPr>
              <a:t>We extend our heartfelt gratitude to our trainers </a:t>
            </a:r>
            <a:r>
              <a:rPr lang="en-IN" sz="1800" b="1" dirty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Mr. </a:t>
            </a:r>
            <a:r>
              <a:rPr lang="en-IN" sz="1800" b="1" dirty="0" err="1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Joydip</a:t>
            </a:r>
            <a:r>
              <a:rPr lang="en-IN" sz="1800" b="1" dirty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 Mondal </a:t>
            </a:r>
            <a:r>
              <a:rPr lang="en-IN" sz="1800" b="1" dirty="0">
                <a:solidFill>
                  <a:srgbClr val="1A1716"/>
                </a:solidFill>
                <a:latin typeface="Arial"/>
                <a:ea typeface="Arial"/>
                <a:cs typeface="Arial"/>
              </a:rPr>
              <a:t>and </a:t>
            </a:r>
            <a:r>
              <a:rPr lang="en-IN" sz="1800" b="1" dirty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Mr. Kishor C </a:t>
            </a:r>
            <a:r>
              <a:rPr lang="en-IN" sz="1800" b="1" dirty="0">
                <a:solidFill>
                  <a:srgbClr val="1A1716"/>
                </a:solidFill>
                <a:latin typeface="Arial"/>
                <a:ea typeface="Arial"/>
                <a:cs typeface="Arial"/>
              </a:rPr>
              <a:t>for their continued support throughout the process.  </a:t>
            </a:r>
            <a:endParaRPr sz="1800" b="1" dirty="0">
              <a:solidFill>
                <a:srgbClr val="1A171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8135B38-1D85-9AD3-1FD6-19B083ED4B3D}"/>
              </a:ext>
            </a:extLst>
          </p:cNvPr>
          <p:cNvSpPr>
            <a:spLocks noGrp="1"/>
          </p:cNvSpPr>
          <p:nvPr/>
        </p:nvSpPr>
        <p:spPr>
          <a:xfrm>
            <a:off x="6591300" y="2000250"/>
            <a:ext cx="2286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1667" lnSpcReduction="20000"/>
          </a:bodyPr>
          <a:lstStyle/>
          <a:p>
            <a:pPr>
              <a:defRPr sz="13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endParaRPr sz="1350" b="1" dirty="0">
              <a:solidFill>
                <a:srgbClr val="C7463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1510BFF-D545-02F9-F270-6CE47F5097C5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810000" cy="152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8333" lnSpcReduction="20000"/>
          </a:bodyPr>
          <a:lstStyle/>
          <a:p>
            <a:pPr>
              <a:defRPr sz="750" b="0">
                <a:solidFill>
                  <a:srgbClr val="5D585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5854"/>
                </a:solidFill>
                <a:latin typeface="Arial"/>
                <a:ea typeface="Arial"/>
                <a:cs typeface="Arial"/>
              </a:rPr>
              <a:t>Grocers Project  |  Team 1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9C32624-B764-208D-9499-6604C44BC073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57200" cy="152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8333" lnSpcReduction="20000"/>
          </a:bodyPr>
          <a:lstStyle/>
          <a:p>
            <a:pPr>
              <a:defRPr sz="750" b="1">
                <a:solidFill>
                  <a:srgbClr val="5D5854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D585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353247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D6032A0D-B135-400C-975F-B8080B057A8F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523875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5833" lnSpcReduction="20000"/>
          </a:bodyPr>
          <a:lstStyle/>
          <a:p>
            <a:pPr>
              <a:defRPr sz="9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TEAM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BCDB07-9374-4072-91C7-B860CC8F1BCC}"/>
              </a:ext>
            </a:extLst>
          </p:cNvPr>
          <p:cNvSpPr>
            <a:spLocks noGrp="1"/>
          </p:cNvSpPr>
          <p:nvPr/>
        </p:nvSpPr>
        <p:spPr>
          <a:xfrm>
            <a:off x="685800" y="657225"/>
            <a:ext cx="101917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400" b="1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A1716"/>
                </a:solidFill>
                <a:latin typeface="Arial"/>
                <a:ea typeface="Arial"/>
                <a:cs typeface="Arial"/>
              </a:rPr>
              <a:t>Team Contributions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D17BFB-7ECF-4CDB-812B-13C632BD7543}"/>
              </a:ext>
            </a:extLst>
          </p:cNvPr>
          <p:cNvSpPr>
            <a:spLocks noGrp="1"/>
          </p:cNvSpPr>
          <p:nvPr/>
        </p:nvSpPr>
        <p:spPr>
          <a:xfrm>
            <a:off x="685800" y="1276350"/>
            <a:ext cx="666750" cy="38100"/>
          </a:xfrm>
          <a:prstGeom prst="rect">
            <a:avLst/>
          </a:prstGeom>
          <a:solidFill>
            <a:srgbClr val="C74634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D306A7-9578-4D4D-8D7F-F98FC6990CD2}"/>
              </a:ext>
            </a:extLst>
          </p:cNvPr>
          <p:cNvSpPr>
            <a:spLocks noGrp="1"/>
          </p:cNvSpPr>
          <p:nvPr/>
        </p:nvSpPr>
        <p:spPr>
          <a:xfrm>
            <a:off x="685800" y="1562100"/>
            <a:ext cx="5143500" cy="4095750"/>
          </a:xfrm>
          <a:prstGeom prst="rect">
            <a:avLst/>
          </a:prstGeom>
          <a:solidFill>
            <a:srgbClr val="F6F1EC"/>
          </a:solidFill>
          <a:ln w="0"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92E2B0-1F0B-45CC-9F90-DF098D0BCC65}"/>
              </a:ext>
            </a:extLst>
          </p:cNvPr>
          <p:cNvSpPr>
            <a:spLocks noGrp="1"/>
          </p:cNvSpPr>
          <p:nvPr/>
        </p:nvSpPr>
        <p:spPr>
          <a:xfrm>
            <a:off x="1009650" y="1962150"/>
            <a:ext cx="1238250" cy="1238250"/>
          </a:xfrm>
          <a:prstGeom prst="rect">
            <a:avLst/>
          </a:prstGeom>
          <a:solidFill>
            <a:srgbClr val="E5D6CF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DA0EAD5-238E-42F8-953A-EC12E84DAF15}"/>
              </a:ext>
            </a:extLst>
          </p:cNvPr>
          <p:cNvSpPr>
            <a:spLocks noGrp="1"/>
          </p:cNvSpPr>
          <p:nvPr/>
        </p:nvSpPr>
        <p:spPr>
          <a:xfrm>
            <a:off x="1085850" y="2390775"/>
            <a:ext cx="10858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750" b="1">
                <a:solidFill>
                  <a:srgbClr val="5D5854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D5854"/>
                </a:solidFill>
                <a:latin typeface="Arial"/>
                <a:ea typeface="Arial"/>
                <a:cs typeface="Arial"/>
              </a:rPr>
              <a:t>PHOTO</a:t>
            </a:r>
          </a:p>
          <a:p>
            <a:pPr>
              <a:defRPr sz="750" b="1">
                <a:solidFill>
                  <a:srgbClr val="5D5854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D5854"/>
                </a:solidFill>
                <a:latin typeface="Arial"/>
                <a:ea typeface="Arial"/>
                <a:cs typeface="Arial"/>
              </a:rPr>
              <a:t>PLACEHOLDER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43C6DC-F6BB-4306-8CA2-5A54D9EC02E5}"/>
              </a:ext>
            </a:extLst>
          </p:cNvPr>
          <p:cNvSpPr>
            <a:spLocks noGrp="1"/>
          </p:cNvSpPr>
          <p:nvPr/>
        </p:nvSpPr>
        <p:spPr>
          <a:xfrm>
            <a:off x="2495550" y="1952625"/>
            <a:ext cx="3048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406"/>
          </a:bodyPr>
          <a:lstStyle/>
          <a:p>
            <a:pPr>
              <a:defRPr sz="1725" b="1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A1716"/>
                </a:solidFill>
                <a:latin typeface="Arial"/>
                <a:ea typeface="Arial"/>
                <a:cs typeface="Arial"/>
              </a:rPr>
              <a:t>Akash SS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EB6243-1E0C-4A73-9911-5059D1D0A1C5}"/>
              </a:ext>
            </a:extLst>
          </p:cNvPr>
          <p:cNvSpPr>
            <a:spLocks noGrp="1"/>
          </p:cNvSpPr>
          <p:nvPr/>
        </p:nvSpPr>
        <p:spPr>
          <a:xfrm>
            <a:off x="2495550" y="2571750"/>
            <a:ext cx="30480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200" b="1" dirty="0">
                <a:solidFill>
                  <a:srgbClr val="C74634"/>
                </a:solidFill>
                <a:latin typeface="Arial"/>
                <a:ea typeface="Arial"/>
                <a:cs typeface="Arial"/>
              </a:rPr>
              <a:t>Major contributions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4FAB8F7-05C7-4DA3-B2D6-864BF311A0ED}"/>
              </a:ext>
            </a:extLst>
          </p:cNvPr>
          <p:cNvSpPr>
            <a:spLocks noGrp="1"/>
          </p:cNvSpPr>
          <p:nvPr/>
        </p:nvSpPr>
        <p:spPr>
          <a:xfrm>
            <a:off x="2375478" y="3021445"/>
            <a:ext cx="3619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lang="en-IN" sz="1200" dirty="0">
                <a:solidFill>
                  <a:srgbClr val="1A1716"/>
                </a:solidFill>
                <a:latin typeface="Arial"/>
                <a:ea typeface="Arial"/>
                <a:cs typeface="Arial"/>
              </a:rPr>
              <a:t>Hybrid search on products - Backend and UI</a:t>
            </a:r>
          </a:p>
          <a:p>
            <a:pPr marL="285750" indent="-285750">
              <a:buFont typeface="Arial" panose="020B0604020202020204" pitchFamily="34" charset="0"/>
              <a:buChar char="•"/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lang="en-IN" sz="1200" b="0" dirty="0">
                <a:solidFill>
                  <a:srgbClr val="1A1716"/>
                </a:solidFill>
                <a:latin typeface="Arial"/>
                <a:ea typeface="Arial"/>
                <a:cs typeface="Arial"/>
              </a:rPr>
              <a:t>Recipe planner assistant – Backend and UI</a:t>
            </a:r>
          </a:p>
          <a:p>
            <a:pPr marL="285750" indent="-285750">
              <a:buFont typeface="Arial" panose="020B0604020202020204" pitchFamily="34" charset="0"/>
              <a:buChar char="•"/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lang="en-IN" sz="1200" dirty="0">
                <a:solidFill>
                  <a:srgbClr val="1A1716"/>
                </a:solidFill>
                <a:latin typeface="Arial"/>
                <a:ea typeface="Arial"/>
                <a:cs typeface="Arial"/>
              </a:rPr>
              <a:t>Baseline UI </a:t>
            </a:r>
            <a:endParaRPr lang="en-IN" sz="1200" b="0" dirty="0">
              <a:solidFill>
                <a:srgbClr val="1A1716"/>
              </a:solidFill>
              <a:latin typeface="Arial"/>
              <a:ea typeface="Arial"/>
              <a:cs typeface="Arial"/>
            </a:endParaRPr>
          </a:p>
          <a:p>
            <a:pPr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endParaRPr sz="1200" b="0" dirty="0">
              <a:solidFill>
                <a:srgbClr val="1A171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FF5777-CED2-41B0-B2EF-40729E75DE73}"/>
              </a:ext>
            </a:extLst>
          </p:cNvPr>
          <p:cNvSpPr>
            <a:spLocks noGrp="1"/>
          </p:cNvSpPr>
          <p:nvPr/>
        </p:nvSpPr>
        <p:spPr>
          <a:xfrm>
            <a:off x="2495550" y="3533775"/>
            <a:ext cx="30480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200" b="1" dirty="0">
                <a:solidFill>
                  <a:srgbClr val="C74634"/>
                </a:solidFill>
                <a:latin typeface="Arial"/>
                <a:ea typeface="Arial"/>
                <a:cs typeface="Arial"/>
              </a:rPr>
              <a:t>Partial contributions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1964867-BCD1-4B29-94DD-065095CA0B1B}"/>
              </a:ext>
            </a:extLst>
          </p:cNvPr>
          <p:cNvSpPr>
            <a:spLocks noGrp="1"/>
          </p:cNvSpPr>
          <p:nvPr/>
        </p:nvSpPr>
        <p:spPr>
          <a:xfrm>
            <a:off x="2495550" y="3810000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696" lnSpcReduction="10000"/>
          </a:bodyPr>
          <a:lstStyle/>
          <a:p>
            <a:pPr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endParaRPr sz="1275" b="0" dirty="0">
              <a:solidFill>
                <a:srgbClr val="1A171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871815-3911-43F5-B3C8-3D4621358399}"/>
              </a:ext>
            </a:extLst>
          </p:cNvPr>
          <p:cNvSpPr>
            <a:spLocks noGrp="1"/>
          </p:cNvSpPr>
          <p:nvPr/>
        </p:nvSpPr>
        <p:spPr>
          <a:xfrm>
            <a:off x="6362700" y="1562100"/>
            <a:ext cx="5143500" cy="4095750"/>
          </a:xfrm>
          <a:prstGeom prst="rect">
            <a:avLst/>
          </a:prstGeom>
          <a:solidFill>
            <a:srgbClr val="F6F1EC"/>
          </a:solidFill>
          <a:ln w="0"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F812BB-BC08-4888-BEBE-FED3303A5735}"/>
              </a:ext>
            </a:extLst>
          </p:cNvPr>
          <p:cNvSpPr>
            <a:spLocks noGrp="1"/>
          </p:cNvSpPr>
          <p:nvPr/>
        </p:nvSpPr>
        <p:spPr>
          <a:xfrm>
            <a:off x="6686550" y="1962150"/>
            <a:ext cx="1238250" cy="1238250"/>
          </a:xfrm>
          <a:prstGeom prst="rect">
            <a:avLst/>
          </a:prstGeom>
          <a:solidFill>
            <a:srgbClr val="E5D6CF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E34CB3B-51C9-4039-930C-8373CD9CA652}"/>
              </a:ext>
            </a:extLst>
          </p:cNvPr>
          <p:cNvSpPr>
            <a:spLocks noGrp="1"/>
          </p:cNvSpPr>
          <p:nvPr/>
        </p:nvSpPr>
        <p:spPr>
          <a:xfrm>
            <a:off x="6762750" y="2390775"/>
            <a:ext cx="10858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750" b="1">
                <a:solidFill>
                  <a:srgbClr val="5D5854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D5854"/>
                </a:solidFill>
                <a:latin typeface="Arial"/>
                <a:ea typeface="Arial"/>
                <a:cs typeface="Arial"/>
              </a:rPr>
              <a:t>PHOTO</a:t>
            </a:r>
          </a:p>
          <a:p>
            <a:pPr>
              <a:defRPr sz="750" b="1">
                <a:solidFill>
                  <a:srgbClr val="5D5854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D5854"/>
                </a:solidFill>
                <a:latin typeface="Arial"/>
                <a:ea typeface="Arial"/>
                <a:cs typeface="Arial"/>
              </a:rPr>
              <a:t>PLACEHOLDER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03FB0BA-71C7-4E1D-AF95-5BE2B599C65C}"/>
              </a:ext>
            </a:extLst>
          </p:cNvPr>
          <p:cNvSpPr>
            <a:spLocks noGrp="1"/>
          </p:cNvSpPr>
          <p:nvPr/>
        </p:nvSpPr>
        <p:spPr>
          <a:xfrm>
            <a:off x="8172450" y="1952625"/>
            <a:ext cx="3048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406"/>
          </a:bodyPr>
          <a:lstStyle/>
          <a:p>
            <a:pPr>
              <a:defRPr sz="1725" b="1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A1716"/>
                </a:solidFill>
                <a:latin typeface="Arial"/>
                <a:ea typeface="Arial"/>
                <a:cs typeface="Arial"/>
              </a:rPr>
              <a:t>Arjun P Chandra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C5C05E4-E87C-4F73-8120-A56246DB3D53}"/>
              </a:ext>
            </a:extLst>
          </p:cNvPr>
          <p:cNvSpPr>
            <a:spLocks noGrp="1"/>
          </p:cNvSpPr>
          <p:nvPr/>
        </p:nvSpPr>
        <p:spPr>
          <a:xfrm>
            <a:off x="8172450" y="2571750"/>
            <a:ext cx="30480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200" b="1" dirty="0">
                <a:solidFill>
                  <a:srgbClr val="C74634"/>
                </a:solidFill>
                <a:latin typeface="Arial"/>
                <a:ea typeface="Arial"/>
                <a:cs typeface="Arial"/>
              </a:rPr>
              <a:t>Major contributions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66AD2E0-4F20-4D81-A60A-25399A453A68}"/>
              </a:ext>
            </a:extLst>
          </p:cNvPr>
          <p:cNvSpPr>
            <a:spLocks noGrp="1"/>
          </p:cNvSpPr>
          <p:nvPr/>
        </p:nvSpPr>
        <p:spPr>
          <a:xfrm>
            <a:off x="8172450" y="2971800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lang="en-IN" sz="1200" dirty="0">
                <a:solidFill>
                  <a:srgbClr val="1A1716"/>
                </a:solidFill>
                <a:latin typeface="Arial"/>
                <a:ea typeface="Arial"/>
                <a:cs typeface="Arial"/>
              </a:rPr>
              <a:t>Customer side backend</a:t>
            </a:r>
          </a:p>
          <a:p>
            <a:pPr marL="285750" indent="-285750">
              <a:buFont typeface="Arial" panose="020B0604020202020204" pitchFamily="34" charset="0"/>
              <a:buChar char="•"/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lang="en-IN" sz="1200" b="0" dirty="0">
                <a:solidFill>
                  <a:srgbClr val="1A1716"/>
                </a:solidFill>
                <a:latin typeface="Arial"/>
                <a:ea typeface="Arial"/>
                <a:cs typeface="Arial"/>
              </a:rPr>
              <a:t>Funds (Wallet) handling and flow</a:t>
            </a:r>
          </a:p>
          <a:p>
            <a:pPr marL="285750" indent="-285750">
              <a:buFont typeface="Arial" panose="020B0604020202020204" pitchFamily="34" charset="0"/>
              <a:buChar char="•"/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lang="en-IN" sz="1200" dirty="0">
                <a:solidFill>
                  <a:srgbClr val="1A1716"/>
                </a:solidFill>
                <a:latin typeface="Arial"/>
                <a:ea typeface="Arial"/>
                <a:cs typeface="Arial"/>
              </a:rPr>
              <a:t>Kafka integration to track orders</a:t>
            </a:r>
            <a:endParaRPr sz="1200" b="0" dirty="0">
              <a:solidFill>
                <a:srgbClr val="1A171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04853C7-DF24-49A3-9C6F-A27F757AB25D}"/>
              </a:ext>
            </a:extLst>
          </p:cNvPr>
          <p:cNvSpPr>
            <a:spLocks noGrp="1"/>
          </p:cNvSpPr>
          <p:nvPr/>
        </p:nvSpPr>
        <p:spPr>
          <a:xfrm>
            <a:off x="8172450" y="3578225"/>
            <a:ext cx="30480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200" b="1" dirty="0">
                <a:solidFill>
                  <a:srgbClr val="C74634"/>
                </a:solidFill>
                <a:latin typeface="Arial"/>
                <a:ea typeface="Arial"/>
                <a:cs typeface="Arial"/>
              </a:rPr>
              <a:t>Partial contributions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7460AD8-AEBC-4614-ABBB-58A5EE9B344D}"/>
              </a:ext>
            </a:extLst>
          </p:cNvPr>
          <p:cNvSpPr>
            <a:spLocks noGrp="1"/>
          </p:cNvSpPr>
          <p:nvPr/>
        </p:nvSpPr>
        <p:spPr>
          <a:xfrm>
            <a:off x="8172450" y="3975100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lang="en-IN" sz="1200" dirty="0">
                <a:solidFill>
                  <a:srgbClr val="1A1716"/>
                </a:solidFill>
                <a:latin typeface="Arial"/>
                <a:ea typeface="Arial"/>
                <a:cs typeface="Arial"/>
              </a:rPr>
              <a:t>Customer side UI</a:t>
            </a:r>
          </a:p>
          <a:p>
            <a:pPr marL="285750" indent="-285750">
              <a:buFont typeface="Arial" panose="020B0604020202020204" pitchFamily="34" charset="0"/>
              <a:buChar char="•"/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lang="en-IN" sz="1200" b="0" dirty="0">
                <a:solidFill>
                  <a:srgbClr val="1A1716"/>
                </a:solidFill>
                <a:latin typeface="Arial"/>
                <a:ea typeface="Arial"/>
                <a:cs typeface="Arial"/>
              </a:rPr>
              <a:t>Order Checkout – Backend and UI</a:t>
            </a:r>
          </a:p>
          <a:p>
            <a:pPr marL="285750" indent="-285750">
              <a:buFont typeface="Arial" panose="020B0604020202020204" pitchFamily="34" charset="0"/>
              <a:buChar char="•"/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lang="en-IN" sz="1200" dirty="0">
                <a:solidFill>
                  <a:srgbClr val="1A1716"/>
                </a:solidFill>
                <a:latin typeface="Arial"/>
                <a:ea typeface="Arial"/>
                <a:cs typeface="Arial"/>
              </a:rPr>
              <a:t>Ticket handling and resolution</a:t>
            </a:r>
            <a:endParaRPr sz="1200" b="0" dirty="0">
              <a:solidFill>
                <a:srgbClr val="1A171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25972A5-13BC-4A06-991A-757FB0C0FB0C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810000" cy="152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8333" lnSpcReduction="20000"/>
          </a:bodyPr>
          <a:lstStyle/>
          <a:p>
            <a:pPr>
              <a:defRPr sz="750" b="0">
                <a:solidFill>
                  <a:srgbClr val="5D585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5854"/>
                </a:solidFill>
                <a:latin typeface="Arial"/>
                <a:ea typeface="Arial"/>
                <a:cs typeface="Arial"/>
              </a:rPr>
              <a:t>Grocers Project  |  Team 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68CC17D-40AC-4E1A-BE5C-B29DD1BF5E18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57200" cy="152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8333" lnSpcReduction="20000"/>
          </a:bodyPr>
          <a:lstStyle/>
          <a:p>
            <a:pPr>
              <a:defRPr sz="750" b="1">
                <a:solidFill>
                  <a:srgbClr val="5D5854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D585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0E137D1-252D-570A-3EAE-70F4D7865F9D}"/>
              </a:ext>
            </a:extLst>
          </p:cNvPr>
          <p:cNvSpPr>
            <a:spLocks noGrp="1"/>
          </p:cNvSpPr>
          <p:nvPr/>
        </p:nvSpPr>
        <p:spPr>
          <a:xfrm>
            <a:off x="2329872" y="3923145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lang="en-IN" sz="1200" dirty="0">
                <a:solidFill>
                  <a:srgbClr val="1A1716"/>
                </a:solidFill>
                <a:latin typeface="Arial"/>
                <a:ea typeface="Arial"/>
                <a:cs typeface="Arial"/>
              </a:rPr>
              <a:t>Bank Account Creation </a:t>
            </a:r>
          </a:p>
          <a:p>
            <a:pPr marL="285750" indent="-285750">
              <a:buFont typeface="Arial" panose="020B0604020202020204" pitchFamily="34" charset="0"/>
              <a:buChar char="•"/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lang="en-IN" sz="1200" b="0" dirty="0">
                <a:solidFill>
                  <a:srgbClr val="1A1716"/>
                </a:solidFill>
                <a:latin typeface="Arial"/>
                <a:ea typeface="Arial"/>
                <a:cs typeface="Arial"/>
              </a:rPr>
              <a:t>Product application - Backend</a:t>
            </a:r>
          </a:p>
        </p:txBody>
      </p:sp>
    </p:spTree>
    <p:extLst>
      <p:ext uri="{BB962C8B-B14F-4D97-AF65-F5344CB8AC3E}">
        <p14:creationId xmlns:p14="http://schemas.microsoft.com/office/powerpoint/2010/main" val="7542602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7A763BEE-EBC2-4E08-A8C4-B3C1323C772B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523875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5833" lnSpcReduction="20000"/>
          </a:bodyPr>
          <a:lstStyle/>
          <a:p>
            <a:pPr>
              <a:defRPr sz="9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TEAM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5C8A8CB-DC1F-466D-823D-B4BB7D003402}"/>
              </a:ext>
            </a:extLst>
          </p:cNvPr>
          <p:cNvSpPr>
            <a:spLocks noGrp="1"/>
          </p:cNvSpPr>
          <p:nvPr/>
        </p:nvSpPr>
        <p:spPr>
          <a:xfrm>
            <a:off x="685800" y="647989"/>
            <a:ext cx="101917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400" b="1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A1716"/>
                </a:solidFill>
                <a:latin typeface="Arial"/>
                <a:ea typeface="Arial"/>
                <a:cs typeface="Arial"/>
              </a:rPr>
              <a:t>Team Contributions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B7FE0C-144C-4589-BEB0-15D0AE58AA7C}"/>
              </a:ext>
            </a:extLst>
          </p:cNvPr>
          <p:cNvSpPr>
            <a:spLocks noGrp="1"/>
          </p:cNvSpPr>
          <p:nvPr/>
        </p:nvSpPr>
        <p:spPr>
          <a:xfrm>
            <a:off x="685800" y="1276350"/>
            <a:ext cx="666750" cy="38100"/>
          </a:xfrm>
          <a:prstGeom prst="rect">
            <a:avLst/>
          </a:prstGeom>
          <a:solidFill>
            <a:srgbClr val="C74634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DC603A5-18AF-4345-88BD-C3F471CA5BCE}"/>
              </a:ext>
            </a:extLst>
          </p:cNvPr>
          <p:cNvSpPr>
            <a:spLocks noGrp="1"/>
          </p:cNvSpPr>
          <p:nvPr/>
        </p:nvSpPr>
        <p:spPr>
          <a:xfrm>
            <a:off x="685800" y="1562100"/>
            <a:ext cx="5143500" cy="4095750"/>
          </a:xfrm>
          <a:prstGeom prst="rect">
            <a:avLst/>
          </a:prstGeom>
          <a:solidFill>
            <a:srgbClr val="F6F1EC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FFEFD0-6ACA-4712-BF39-B5B3A8B5B7ED}"/>
              </a:ext>
            </a:extLst>
          </p:cNvPr>
          <p:cNvSpPr>
            <a:spLocks noGrp="1"/>
          </p:cNvSpPr>
          <p:nvPr/>
        </p:nvSpPr>
        <p:spPr>
          <a:xfrm>
            <a:off x="1009650" y="1962150"/>
            <a:ext cx="1238250" cy="1238250"/>
          </a:xfrm>
          <a:prstGeom prst="rect">
            <a:avLst/>
          </a:prstGeom>
          <a:solidFill>
            <a:srgbClr val="E5D6CF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633C8B-E3B2-4ECE-B414-D0CCEB94CB60}"/>
              </a:ext>
            </a:extLst>
          </p:cNvPr>
          <p:cNvSpPr>
            <a:spLocks noGrp="1"/>
          </p:cNvSpPr>
          <p:nvPr/>
        </p:nvSpPr>
        <p:spPr>
          <a:xfrm>
            <a:off x="1085850" y="2390775"/>
            <a:ext cx="10858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750" b="1">
                <a:solidFill>
                  <a:srgbClr val="5D5854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D5854"/>
                </a:solidFill>
                <a:latin typeface="Arial"/>
                <a:ea typeface="Arial"/>
                <a:cs typeface="Arial"/>
              </a:rPr>
              <a:t>PHOTO</a:t>
            </a:r>
          </a:p>
          <a:p>
            <a:pPr>
              <a:defRPr sz="750" b="1">
                <a:solidFill>
                  <a:srgbClr val="5D5854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D5854"/>
                </a:solidFill>
                <a:latin typeface="Arial"/>
                <a:ea typeface="Arial"/>
                <a:cs typeface="Arial"/>
              </a:rPr>
              <a:t>PLACEHOLDER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78E58D-01DE-49AB-8CEC-F23F913C3344}"/>
              </a:ext>
            </a:extLst>
          </p:cNvPr>
          <p:cNvSpPr>
            <a:spLocks noGrp="1"/>
          </p:cNvSpPr>
          <p:nvPr/>
        </p:nvSpPr>
        <p:spPr>
          <a:xfrm>
            <a:off x="2495550" y="1952625"/>
            <a:ext cx="3048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406"/>
          </a:bodyPr>
          <a:lstStyle/>
          <a:p>
            <a:pPr>
              <a:defRPr sz="1725" b="1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725" b="1" dirty="0">
                <a:solidFill>
                  <a:srgbClr val="1A1716"/>
                </a:solidFill>
                <a:latin typeface="Arial"/>
                <a:ea typeface="Arial"/>
                <a:cs typeface="Arial"/>
              </a:rPr>
              <a:t>K</a:t>
            </a:r>
            <a:r>
              <a:rPr lang="en-IN" sz="1725" b="1" dirty="0">
                <a:solidFill>
                  <a:srgbClr val="1A1716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1" dirty="0">
                <a:solidFill>
                  <a:srgbClr val="1A1716"/>
                </a:solidFill>
                <a:latin typeface="Arial"/>
                <a:ea typeface="Arial"/>
                <a:cs typeface="Arial"/>
              </a:rPr>
              <a:t>Abhiram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345593F-F921-4C22-AEF8-29C77F19DAC0}"/>
              </a:ext>
            </a:extLst>
          </p:cNvPr>
          <p:cNvSpPr>
            <a:spLocks noGrp="1"/>
          </p:cNvSpPr>
          <p:nvPr/>
        </p:nvSpPr>
        <p:spPr>
          <a:xfrm>
            <a:off x="2495550" y="2571750"/>
            <a:ext cx="30480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200" b="1" dirty="0">
                <a:solidFill>
                  <a:srgbClr val="C74634"/>
                </a:solidFill>
                <a:latin typeface="Arial"/>
                <a:ea typeface="Arial"/>
                <a:cs typeface="Arial"/>
              </a:rPr>
              <a:t>Major contributions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9AE70B6-CBE8-4A2D-855B-6E715E4308FE}"/>
              </a:ext>
            </a:extLst>
          </p:cNvPr>
          <p:cNvSpPr>
            <a:spLocks noGrp="1"/>
          </p:cNvSpPr>
          <p:nvPr/>
        </p:nvSpPr>
        <p:spPr>
          <a:xfrm>
            <a:off x="2495550" y="2943225"/>
            <a:ext cx="31940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lang="en-IN" sz="1200" b="0" dirty="0">
                <a:solidFill>
                  <a:srgbClr val="1A1716"/>
                </a:solidFill>
                <a:latin typeface="Arial"/>
                <a:ea typeface="Arial"/>
                <a:cs typeface="Arial"/>
              </a:rPr>
              <a:t>Employee service – Backend and UI</a:t>
            </a:r>
          </a:p>
          <a:p>
            <a:pPr marL="285750" indent="-285750">
              <a:buFont typeface="Arial" panose="020B0604020202020204" pitchFamily="34" charset="0"/>
              <a:buChar char="•"/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lang="en-IN" sz="1200" dirty="0">
                <a:solidFill>
                  <a:srgbClr val="1A1716"/>
                </a:solidFill>
                <a:latin typeface="Arial"/>
                <a:ea typeface="Arial"/>
                <a:cs typeface="Arial"/>
              </a:rPr>
              <a:t>Ticket handling – Backend and UI</a:t>
            </a:r>
          </a:p>
          <a:p>
            <a:pPr marL="285750" indent="-285750">
              <a:buFont typeface="Arial" panose="020B0604020202020204" pitchFamily="34" charset="0"/>
              <a:buChar char="•"/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endParaRPr sz="1200" b="0" dirty="0">
              <a:solidFill>
                <a:srgbClr val="1A171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7D4D67-3001-4DD3-BA63-26B957991677}"/>
              </a:ext>
            </a:extLst>
          </p:cNvPr>
          <p:cNvSpPr>
            <a:spLocks noGrp="1"/>
          </p:cNvSpPr>
          <p:nvPr/>
        </p:nvSpPr>
        <p:spPr>
          <a:xfrm>
            <a:off x="2495550" y="3533775"/>
            <a:ext cx="30480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200" b="1" dirty="0">
                <a:solidFill>
                  <a:srgbClr val="C74634"/>
                </a:solidFill>
                <a:latin typeface="Arial"/>
                <a:ea typeface="Arial"/>
                <a:cs typeface="Arial"/>
              </a:rPr>
              <a:t>Partial contributions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75258D1-05B8-410A-8760-226242399E5B}"/>
              </a:ext>
            </a:extLst>
          </p:cNvPr>
          <p:cNvSpPr>
            <a:spLocks noGrp="1"/>
          </p:cNvSpPr>
          <p:nvPr/>
        </p:nvSpPr>
        <p:spPr>
          <a:xfrm>
            <a:off x="2495550" y="3986212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lang="en-IN" sz="1200" b="0" dirty="0">
                <a:solidFill>
                  <a:srgbClr val="1A1716"/>
                </a:solidFill>
                <a:latin typeface="Arial"/>
                <a:ea typeface="Arial"/>
                <a:cs typeface="Arial"/>
              </a:rPr>
              <a:t>Admin side UI</a:t>
            </a:r>
          </a:p>
          <a:p>
            <a:pPr marL="285750" indent="-285750">
              <a:buFont typeface="Arial" panose="020B0604020202020204" pitchFamily="34" charset="0"/>
              <a:buChar char="•"/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lang="en-IN" sz="1200" dirty="0">
                <a:solidFill>
                  <a:srgbClr val="1A1716"/>
                </a:solidFill>
                <a:latin typeface="Arial"/>
                <a:ea typeface="Arial"/>
                <a:cs typeface="Arial"/>
              </a:rPr>
              <a:t>Inventory management –UI and Logic</a:t>
            </a:r>
          </a:p>
          <a:p>
            <a:pPr marL="285750" indent="-285750">
              <a:buFont typeface="Arial" panose="020B0604020202020204" pitchFamily="34" charset="0"/>
              <a:buChar char="•"/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lang="en-IN" sz="1200" b="0" dirty="0">
                <a:solidFill>
                  <a:srgbClr val="1A1716"/>
                </a:solidFill>
                <a:latin typeface="Arial"/>
                <a:ea typeface="Arial"/>
                <a:cs typeface="Arial"/>
              </a:rPr>
              <a:t>Security/Account Recovery implementation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0B2616-5FA5-4B21-A090-DC10E3D3C093}"/>
              </a:ext>
            </a:extLst>
          </p:cNvPr>
          <p:cNvSpPr>
            <a:spLocks noGrp="1"/>
          </p:cNvSpPr>
          <p:nvPr/>
        </p:nvSpPr>
        <p:spPr>
          <a:xfrm>
            <a:off x="6362700" y="1562100"/>
            <a:ext cx="5143500" cy="4095750"/>
          </a:xfrm>
          <a:prstGeom prst="rect">
            <a:avLst/>
          </a:prstGeom>
          <a:solidFill>
            <a:srgbClr val="F6F1EC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E03E6CF-6481-4486-8812-87E9E446F892}"/>
              </a:ext>
            </a:extLst>
          </p:cNvPr>
          <p:cNvSpPr>
            <a:spLocks noGrp="1"/>
          </p:cNvSpPr>
          <p:nvPr/>
        </p:nvSpPr>
        <p:spPr>
          <a:xfrm>
            <a:off x="6686550" y="1962150"/>
            <a:ext cx="1238250" cy="1238250"/>
          </a:xfrm>
          <a:prstGeom prst="rect">
            <a:avLst/>
          </a:prstGeom>
          <a:solidFill>
            <a:srgbClr val="E5D6CF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98B511B-B74A-4F41-90EB-7A25A9A3D899}"/>
              </a:ext>
            </a:extLst>
          </p:cNvPr>
          <p:cNvSpPr>
            <a:spLocks noGrp="1"/>
          </p:cNvSpPr>
          <p:nvPr/>
        </p:nvSpPr>
        <p:spPr>
          <a:xfrm>
            <a:off x="6762750" y="2390775"/>
            <a:ext cx="10858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750" b="1">
                <a:solidFill>
                  <a:srgbClr val="5D5854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D5854"/>
                </a:solidFill>
                <a:latin typeface="Arial"/>
                <a:ea typeface="Arial"/>
                <a:cs typeface="Arial"/>
              </a:rPr>
              <a:t>PHOTO</a:t>
            </a:r>
          </a:p>
          <a:p>
            <a:pPr>
              <a:defRPr sz="750" b="1">
                <a:solidFill>
                  <a:srgbClr val="5D5854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D5854"/>
                </a:solidFill>
                <a:latin typeface="Arial"/>
                <a:ea typeface="Arial"/>
                <a:cs typeface="Arial"/>
              </a:rPr>
              <a:t>PLACEHOLDER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627861C-75B6-439D-BDAB-874DB239D035}"/>
              </a:ext>
            </a:extLst>
          </p:cNvPr>
          <p:cNvSpPr>
            <a:spLocks noGrp="1"/>
          </p:cNvSpPr>
          <p:nvPr/>
        </p:nvSpPr>
        <p:spPr>
          <a:xfrm>
            <a:off x="8172450" y="1952625"/>
            <a:ext cx="3048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406"/>
          </a:bodyPr>
          <a:lstStyle/>
          <a:p>
            <a:pPr>
              <a:defRPr sz="1725" b="1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725" b="1" dirty="0">
                <a:solidFill>
                  <a:srgbClr val="1A1716"/>
                </a:solidFill>
                <a:latin typeface="Arial"/>
                <a:ea typeface="Arial"/>
                <a:cs typeface="Arial"/>
              </a:rPr>
              <a:t>Pragathi Sanjeev Achar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FA2399F-4B39-47B7-8F1C-1076D39958F0}"/>
              </a:ext>
            </a:extLst>
          </p:cNvPr>
          <p:cNvSpPr>
            <a:spLocks noGrp="1"/>
          </p:cNvSpPr>
          <p:nvPr/>
        </p:nvSpPr>
        <p:spPr>
          <a:xfrm>
            <a:off x="8172450" y="2571750"/>
            <a:ext cx="30480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200" b="1" dirty="0">
                <a:solidFill>
                  <a:srgbClr val="C74634"/>
                </a:solidFill>
                <a:latin typeface="Arial"/>
                <a:ea typeface="Arial"/>
                <a:cs typeface="Arial"/>
              </a:rPr>
              <a:t>Major contributions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960F548-5C22-45FB-BC40-2635B3DA64AB}"/>
              </a:ext>
            </a:extLst>
          </p:cNvPr>
          <p:cNvSpPr>
            <a:spLocks noGrp="1"/>
          </p:cNvSpPr>
          <p:nvPr/>
        </p:nvSpPr>
        <p:spPr>
          <a:xfrm>
            <a:off x="8172450" y="2981325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lang="en-IN" sz="1200" dirty="0">
                <a:solidFill>
                  <a:srgbClr val="1A1716"/>
                </a:solidFill>
                <a:latin typeface="Arial"/>
                <a:ea typeface="Arial"/>
                <a:cs typeface="Arial"/>
              </a:rPr>
              <a:t>Product service – Backend and UI</a:t>
            </a:r>
          </a:p>
          <a:p>
            <a:pPr marL="171450" indent="-171450">
              <a:buFont typeface="Arial" panose="020B0604020202020204" pitchFamily="34" charset="0"/>
              <a:buChar char="•"/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lang="en-IN" sz="1200" b="0" dirty="0">
                <a:solidFill>
                  <a:srgbClr val="1A1716"/>
                </a:solidFill>
                <a:latin typeface="Arial"/>
                <a:ea typeface="Arial"/>
                <a:cs typeface="Arial"/>
              </a:rPr>
              <a:t>Cart service-Backend and UI</a:t>
            </a:r>
          </a:p>
          <a:p>
            <a:pPr marL="171450" indent="-171450">
              <a:buFont typeface="Arial" panose="020B0604020202020204" pitchFamily="34" charset="0"/>
              <a:buChar char="•"/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lang="en-IN" sz="1200" dirty="0">
                <a:solidFill>
                  <a:srgbClr val="1A1716"/>
                </a:solidFill>
                <a:latin typeface="Arial"/>
                <a:ea typeface="Arial"/>
                <a:cs typeface="Arial"/>
              </a:rPr>
              <a:t>Order service- Backend and UI</a:t>
            </a:r>
            <a:endParaRPr sz="1200" b="0" dirty="0">
              <a:solidFill>
                <a:srgbClr val="1A171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3B1DDEC-917E-4C95-A137-9B27A1AE613F}"/>
              </a:ext>
            </a:extLst>
          </p:cNvPr>
          <p:cNvSpPr>
            <a:spLocks noGrp="1"/>
          </p:cNvSpPr>
          <p:nvPr/>
        </p:nvSpPr>
        <p:spPr>
          <a:xfrm>
            <a:off x="8172450" y="3533775"/>
            <a:ext cx="30480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200" b="1" dirty="0">
                <a:solidFill>
                  <a:srgbClr val="C74634"/>
                </a:solidFill>
                <a:latin typeface="Arial"/>
                <a:ea typeface="Arial"/>
                <a:cs typeface="Arial"/>
              </a:rPr>
              <a:t>Partial contributions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6149AEE-BC2E-4071-A08A-F378FF577310}"/>
              </a:ext>
            </a:extLst>
          </p:cNvPr>
          <p:cNvSpPr>
            <a:spLocks noGrp="1"/>
          </p:cNvSpPr>
          <p:nvPr/>
        </p:nvSpPr>
        <p:spPr>
          <a:xfrm>
            <a:off x="8172450" y="3810000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lang="en-IN" sz="1200" dirty="0">
                <a:solidFill>
                  <a:srgbClr val="1A1716"/>
                </a:solidFill>
                <a:latin typeface="Arial"/>
                <a:ea typeface="Arial"/>
                <a:cs typeface="Arial"/>
              </a:rPr>
              <a:t>Customer side UI</a:t>
            </a:r>
          </a:p>
          <a:p>
            <a:pPr marL="171450" indent="-171450">
              <a:buFont typeface="Arial" panose="020B0604020202020204" pitchFamily="34" charset="0"/>
              <a:buChar char="•"/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lang="en-IN" sz="1200" b="0" dirty="0">
                <a:solidFill>
                  <a:srgbClr val="1A1716"/>
                </a:solidFill>
                <a:latin typeface="Arial"/>
                <a:ea typeface="Arial"/>
                <a:cs typeface="Arial"/>
              </a:rPr>
              <a:t>Wishlist feature backend and UI</a:t>
            </a:r>
            <a:endParaRPr sz="1200" b="0" dirty="0">
              <a:solidFill>
                <a:srgbClr val="1A171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50D303A-468C-4F48-A1CB-B8C0354D9972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810000" cy="152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8333" lnSpcReduction="20000"/>
          </a:bodyPr>
          <a:lstStyle/>
          <a:p>
            <a:pPr>
              <a:defRPr sz="750" b="0">
                <a:solidFill>
                  <a:srgbClr val="5D585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5854"/>
                </a:solidFill>
                <a:latin typeface="Arial"/>
                <a:ea typeface="Arial"/>
                <a:cs typeface="Arial"/>
              </a:rPr>
              <a:t>Grocers Project  |  Team 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09307F8-151A-464E-A9B0-21AA44914D5F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57200" cy="152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8333" lnSpcReduction="20000"/>
          </a:bodyPr>
          <a:lstStyle/>
          <a:p>
            <a:pPr>
              <a:defRPr sz="750" b="1">
                <a:solidFill>
                  <a:srgbClr val="5D5854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D5854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7706288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DF8FDA44-079D-4290-8A9F-F2648D066EEE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523875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5833" lnSpcReduction="20000"/>
          </a:bodyPr>
          <a:lstStyle/>
          <a:p>
            <a:pPr>
              <a:defRPr sz="9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00" b="1" dirty="0">
                <a:solidFill>
                  <a:srgbClr val="C74634"/>
                </a:solidFill>
                <a:latin typeface="Arial"/>
                <a:ea typeface="Arial"/>
                <a:cs typeface="Arial"/>
              </a:rPr>
              <a:t>TEAM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CAD70A0-DF54-4164-ABE6-9B55C0342455}"/>
              </a:ext>
            </a:extLst>
          </p:cNvPr>
          <p:cNvSpPr>
            <a:spLocks noGrp="1"/>
          </p:cNvSpPr>
          <p:nvPr/>
        </p:nvSpPr>
        <p:spPr>
          <a:xfrm>
            <a:off x="685800" y="657225"/>
            <a:ext cx="101917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2400" b="1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A1716"/>
                </a:solidFill>
                <a:latin typeface="Arial"/>
                <a:ea typeface="Arial"/>
                <a:cs typeface="Arial"/>
              </a:rPr>
              <a:t>Team Contributions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6C29A1-A387-4C0B-8FEF-BB45CC139A6C}"/>
              </a:ext>
            </a:extLst>
          </p:cNvPr>
          <p:cNvSpPr>
            <a:spLocks noGrp="1"/>
          </p:cNvSpPr>
          <p:nvPr/>
        </p:nvSpPr>
        <p:spPr>
          <a:xfrm>
            <a:off x="685800" y="1276350"/>
            <a:ext cx="666750" cy="38100"/>
          </a:xfrm>
          <a:prstGeom prst="rect">
            <a:avLst/>
          </a:prstGeom>
          <a:solidFill>
            <a:srgbClr val="C74634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77E8C8-07CD-4348-8557-6C0421D4B7F1}"/>
              </a:ext>
            </a:extLst>
          </p:cNvPr>
          <p:cNvSpPr>
            <a:spLocks noGrp="1"/>
          </p:cNvSpPr>
          <p:nvPr/>
        </p:nvSpPr>
        <p:spPr>
          <a:xfrm>
            <a:off x="2667000" y="1562100"/>
            <a:ext cx="6858000" cy="4095750"/>
          </a:xfrm>
          <a:prstGeom prst="rect">
            <a:avLst/>
          </a:prstGeom>
          <a:solidFill>
            <a:srgbClr val="F6F1EC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65A39E7-AB88-4EC6-8333-D37F776D8515}"/>
              </a:ext>
            </a:extLst>
          </p:cNvPr>
          <p:cNvSpPr>
            <a:spLocks noGrp="1"/>
          </p:cNvSpPr>
          <p:nvPr/>
        </p:nvSpPr>
        <p:spPr>
          <a:xfrm>
            <a:off x="2990850" y="1962150"/>
            <a:ext cx="1238250" cy="1238250"/>
          </a:xfrm>
          <a:prstGeom prst="rect">
            <a:avLst/>
          </a:prstGeom>
          <a:solidFill>
            <a:srgbClr val="E5D6CF"/>
          </a:solidFill>
          <a:ln w="0"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B6488C-B8CB-49A4-ADDC-461837BC324E}"/>
              </a:ext>
            </a:extLst>
          </p:cNvPr>
          <p:cNvSpPr>
            <a:spLocks noGrp="1"/>
          </p:cNvSpPr>
          <p:nvPr/>
        </p:nvSpPr>
        <p:spPr>
          <a:xfrm>
            <a:off x="3067050" y="2390775"/>
            <a:ext cx="10858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defRPr sz="750" b="1">
                <a:solidFill>
                  <a:srgbClr val="5D5854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D5854"/>
                </a:solidFill>
                <a:latin typeface="Arial"/>
                <a:ea typeface="Arial"/>
                <a:cs typeface="Arial"/>
              </a:rPr>
              <a:t>PHOTO</a:t>
            </a:r>
          </a:p>
          <a:p>
            <a:pPr>
              <a:defRPr sz="750" b="1">
                <a:solidFill>
                  <a:srgbClr val="5D5854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D5854"/>
                </a:solidFill>
                <a:latin typeface="Arial"/>
                <a:ea typeface="Arial"/>
                <a:cs typeface="Arial"/>
              </a:rPr>
              <a:t>PLACEHOLDER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3FC2E1-2DC5-453F-A26E-46BBAD4899C6}"/>
              </a:ext>
            </a:extLst>
          </p:cNvPr>
          <p:cNvSpPr>
            <a:spLocks noGrp="1"/>
          </p:cNvSpPr>
          <p:nvPr/>
        </p:nvSpPr>
        <p:spPr>
          <a:xfrm>
            <a:off x="4476750" y="1952625"/>
            <a:ext cx="4762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406"/>
          </a:bodyPr>
          <a:lstStyle/>
          <a:p>
            <a:pPr>
              <a:defRPr sz="1725" b="1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A1716"/>
                </a:solidFill>
                <a:latin typeface="Arial"/>
                <a:ea typeface="Arial"/>
                <a:cs typeface="Arial"/>
              </a:rPr>
              <a:t>Pranav Patil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0179F91-BD10-46AE-8C35-74D0896D8D48}"/>
              </a:ext>
            </a:extLst>
          </p:cNvPr>
          <p:cNvSpPr>
            <a:spLocks noGrp="1"/>
          </p:cNvSpPr>
          <p:nvPr/>
        </p:nvSpPr>
        <p:spPr>
          <a:xfrm>
            <a:off x="4476750" y="2985366"/>
            <a:ext cx="47625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200" b="1" dirty="0">
                <a:solidFill>
                  <a:srgbClr val="C74634"/>
                </a:solidFill>
                <a:latin typeface="Arial"/>
                <a:ea typeface="Arial"/>
                <a:cs typeface="Arial"/>
              </a:rPr>
              <a:t>Major contributions</a:t>
            </a:r>
            <a:endParaRPr lang="en-US" sz="1200" dirty="0">
              <a:solidFill>
                <a:srgbClr val="1A1716"/>
              </a:solidFill>
              <a:latin typeface="Arial"/>
              <a:ea typeface="Arial"/>
              <a:cs typeface="Arial"/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lang="en-US" sz="1200" dirty="0">
                <a:solidFill>
                  <a:srgbClr val="1A1716"/>
                </a:solidFill>
                <a:latin typeface="Arial"/>
                <a:ea typeface="Arial"/>
                <a:cs typeface="Arial"/>
              </a:rPr>
              <a:t>Admin Service – Backend and UI</a:t>
            </a:r>
          </a:p>
          <a:p>
            <a:pPr marL="171450" indent="-171450">
              <a:buFont typeface="Arial" panose="020B0604020202020204" pitchFamily="34" charset="0"/>
              <a:buChar char="•"/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lang="en-US" sz="1200" dirty="0">
                <a:solidFill>
                  <a:srgbClr val="1A1716"/>
                </a:solidFill>
                <a:latin typeface="Arial"/>
                <a:ea typeface="Arial"/>
                <a:cs typeface="Arial"/>
              </a:rPr>
              <a:t>JWT Authentication – Backend</a:t>
            </a:r>
          </a:p>
          <a:p>
            <a:pPr marL="171450" indent="-171450">
              <a:buFont typeface="Arial" panose="020B0604020202020204" pitchFamily="34" charset="0"/>
              <a:buChar char="•"/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lang="en-US" sz="1200" dirty="0">
                <a:solidFill>
                  <a:srgbClr val="1A1716"/>
                </a:solidFill>
                <a:latin typeface="Arial"/>
                <a:ea typeface="Arial"/>
                <a:cs typeface="Arial"/>
              </a:rPr>
              <a:t>API Gateway – Backend</a:t>
            </a:r>
          </a:p>
          <a:p>
            <a:pPr marL="171450" indent="-171450">
              <a:buFont typeface="Arial" panose="020B0604020202020204" pitchFamily="34" charset="0"/>
              <a:buChar char="•"/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lang="en-US" sz="1200" dirty="0">
                <a:solidFill>
                  <a:srgbClr val="1A1716"/>
                </a:solidFill>
                <a:latin typeface="Arial"/>
                <a:ea typeface="Arial"/>
                <a:cs typeface="Arial"/>
              </a:rPr>
              <a:t>Request Service – Backend and UI</a:t>
            </a:r>
          </a:p>
          <a:p>
            <a:pPr marL="171450" indent="-171450">
              <a:buFont typeface="Arial" panose="020B0604020202020204" pitchFamily="34" charset="0"/>
              <a:buChar char="•"/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endParaRPr lang="en-US" sz="1200" dirty="0">
              <a:solidFill>
                <a:srgbClr val="1A1716"/>
              </a:solidFill>
              <a:latin typeface="Arial"/>
              <a:ea typeface="Arial"/>
              <a:cs typeface="Arial"/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endParaRPr lang="en-US" sz="1200" dirty="0">
              <a:solidFill>
                <a:srgbClr val="1A1716"/>
              </a:solidFill>
              <a:latin typeface="Arial"/>
              <a:ea typeface="Arial"/>
              <a:cs typeface="Arial"/>
            </a:endParaRPr>
          </a:p>
          <a:p>
            <a:pPr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endParaRPr sz="1200" b="1" dirty="0">
              <a:solidFill>
                <a:srgbClr val="C7463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0DCA96E-68EA-4F3B-B750-C2F7E1A3DC3D}"/>
              </a:ext>
            </a:extLst>
          </p:cNvPr>
          <p:cNvSpPr>
            <a:spLocks noGrp="1"/>
          </p:cNvSpPr>
          <p:nvPr/>
        </p:nvSpPr>
        <p:spPr>
          <a:xfrm>
            <a:off x="4476750" y="293370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endParaRPr sz="1200" b="0" dirty="0">
              <a:solidFill>
                <a:srgbClr val="1A171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BCA5BFE-C6CD-42C2-B380-6588B98D3842}"/>
              </a:ext>
            </a:extLst>
          </p:cNvPr>
          <p:cNvSpPr>
            <a:spLocks noGrp="1"/>
          </p:cNvSpPr>
          <p:nvPr/>
        </p:nvSpPr>
        <p:spPr>
          <a:xfrm>
            <a:off x="4476750" y="3619500"/>
            <a:ext cx="47625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200" b="1" dirty="0">
                <a:solidFill>
                  <a:srgbClr val="C74634"/>
                </a:solidFill>
                <a:latin typeface="Arial"/>
                <a:ea typeface="Arial"/>
                <a:cs typeface="Arial"/>
              </a:rPr>
              <a:t>Partial contributions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D6D4FD-FD25-451B-93A9-600DB9571967}"/>
              </a:ext>
            </a:extLst>
          </p:cNvPr>
          <p:cNvSpPr>
            <a:spLocks noGrp="1"/>
          </p:cNvSpPr>
          <p:nvPr/>
        </p:nvSpPr>
        <p:spPr>
          <a:xfrm>
            <a:off x="4476750" y="381000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696"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lang="en-IN" sz="1275" b="0" dirty="0">
                <a:solidFill>
                  <a:srgbClr val="1A1716"/>
                </a:solidFill>
                <a:latin typeface="Arial"/>
                <a:ea typeface="Arial"/>
                <a:cs typeface="Arial"/>
              </a:rPr>
              <a:t>Recipe planner assistant – </a:t>
            </a:r>
            <a:r>
              <a:rPr lang="en-IN" sz="1275" dirty="0">
                <a:solidFill>
                  <a:srgbClr val="1A1716"/>
                </a:solidFill>
                <a:latin typeface="Arial"/>
                <a:ea typeface="Arial"/>
                <a:cs typeface="Arial"/>
              </a:rPr>
              <a:t>Baseline</a:t>
            </a:r>
            <a:r>
              <a:rPr lang="en-IN" sz="1275" b="0" dirty="0">
                <a:solidFill>
                  <a:srgbClr val="1A1716"/>
                </a:solidFill>
                <a:latin typeface="Arial"/>
                <a:ea typeface="Arial"/>
                <a:cs typeface="Arial"/>
              </a:rPr>
              <a:t> </a:t>
            </a:r>
            <a:endParaRPr sz="1275" b="0" dirty="0">
              <a:solidFill>
                <a:srgbClr val="1A171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64B52F-86CF-4259-A319-224E129A2D24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810000" cy="152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8333" lnSpcReduction="20000"/>
          </a:bodyPr>
          <a:lstStyle/>
          <a:p>
            <a:pPr>
              <a:defRPr sz="750" b="0">
                <a:solidFill>
                  <a:srgbClr val="5D585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5854"/>
                </a:solidFill>
                <a:latin typeface="Arial"/>
                <a:ea typeface="Arial"/>
                <a:cs typeface="Arial"/>
              </a:rPr>
              <a:t>Grocers Project  |  Team 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D7238C8-98E3-4898-AD3C-F2DABB791F0E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457200" cy="152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8333" lnSpcReduction="20000"/>
          </a:bodyPr>
          <a:lstStyle/>
          <a:p>
            <a:pPr>
              <a:defRPr sz="750" b="1">
                <a:solidFill>
                  <a:srgbClr val="5D5854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D5854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12205939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825c952f-1947-4719-99e7-7bc5a76060a8}" enabled="1" method="Standard" siteId="{4e2c6054-71cb-48f1-bd6c-3a9705aca71b}" contentBits="3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1185</Words>
  <Application>Microsoft Office PowerPoint</Application>
  <DocSecurity>0</DocSecurity>
  <PresentationFormat>Widescreen</PresentationFormat>
  <Paragraphs>241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Arial</vt:lpstr>
      <vt:lpstr>Calibri</vt:lpstr>
      <vt:lpstr>Times New Roman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Arjun P Chandra</cp:lastModifiedBy>
  <cp:revision>1</cp:revision>
  <dcterms:created xsi:type="dcterms:W3CDTF">2026-09-23T13:34:29Z</dcterms:created>
  <dcterms:modified xsi:type="dcterms:W3CDTF">2026-09-24T08:48:10Z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ChatGPT:5</vt:lpwstr>
  </property>
  <property fmtid="{D5CDD505-2E9C-101B-9397-08002B2CF9AE}" pid="3" name="ClassificationContentMarkingFooterText">
    <vt:lpwstr>Confidential - Oracle Restricted \Employees Only</vt:lpwstr>
  </property>
  <property fmtid="{D5CDD505-2E9C-101B-9397-08002B2CF9AE}" pid="4" name="ClassificationContentMarkingHeaderLocations">
    <vt:lpwstr>ChatGPT:4</vt:lpwstr>
  </property>
  <property fmtid="{D5CDD505-2E9C-101B-9397-08002B2CF9AE}" pid="5" name="ClassificationContentMarkingHeaderText">
    <vt:lpwstr>Confidential - Oracle Restricted \Employees Only</vt:lpwstr>
  </property>
</Properties>
</file>