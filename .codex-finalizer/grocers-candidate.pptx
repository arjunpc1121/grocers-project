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76b2b85f244a54" /><Relationship Type="http://schemas.openxmlformats.org/officeDocument/2006/relationships/extended-properties" Target="/docProps/app.xml" Id="R4f488b2e404b4d2a" /><Relationship Type="http://schemas.openxmlformats.org/officeDocument/2006/relationships/officeDocument" Target="/ppt/presentation.xml" Id="Rc1e9aa1fcfaa47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0c052a2e52e46fa"/>
  </p:sldMasterIdLst>
  <p:notesMasterIdLst>
    <p:notesMasterId xmlns:r="http://schemas.openxmlformats.org/officeDocument/2006/relationships" r:id="Rd74724bd339341da"/>
  </p:notesMasterIdLst>
  <p:sldIdLst>
    <p:sldId xmlns:r="http://schemas.openxmlformats.org/officeDocument/2006/relationships" id="256" r:id="R537352ff7f9d4cae"/>
    <p:sldId xmlns:r="http://schemas.openxmlformats.org/officeDocument/2006/relationships" id="257" r:id="Rc7b0480c41014ab0"/>
    <p:sldId xmlns:r="http://schemas.openxmlformats.org/officeDocument/2006/relationships" id="258" r:id="Rce09c09589f44472"/>
    <p:sldId xmlns:r="http://schemas.openxmlformats.org/officeDocument/2006/relationships" id="259" r:id="R0963aff8db3d410b"/>
    <p:sldId xmlns:r="http://schemas.openxmlformats.org/officeDocument/2006/relationships" id="260" r:id="R6bae8594db9748f8"/>
    <p:sldId xmlns:r="http://schemas.openxmlformats.org/officeDocument/2006/relationships" id="261" r:id="Re352c603ef8f428c"/>
    <p:sldId xmlns:r="http://schemas.openxmlformats.org/officeDocument/2006/relationships" id="262" r:id="R3a9754d87cac43ca"/>
    <p:sldId xmlns:r="http://schemas.openxmlformats.org/officeDocument/2006/relationships" id="263" r:id="Raece314c5dba4ab3"/>
    <p:sldId xmlns:r="http://schemas.openxmlformats.org/officeDocument/2006/relationships" id="264" r:id="Rc0be3cfc926c4883"/>
    <p:sldId xmlns:r="http://schemas.openxmlformats.org/officeDocument/2006/relationships" id="265" r:id="R558f2e3bef7243be"/>
    <p:sldId xmlns:r="http://schemas.openxmlformats.org/officeDocument/2006/relationships" id="266" r:id="Re26cd022ad9d404c"/>
    <p:sldId xmlns:r="http://schemas.openxmlformats.org/officeDocument/2006/relationships" id="267" r:id="R114df47cf916412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e33af3ee21949e3" /><Relationship Type="http://schemas.openxmlformats.org/officeDocument/2006/relationships/slideMaster" Target="/ppt/slideMasters/slideMaster1.xml" Id="R10c052a2e52e46fa" /><Relationship Type="http://schemas.openxmlformats.org/officeDocument/2006/relationships/notesMaster" Target="/ppt/notesMasters/notesMaster1.xml" Id="Rd74724bd339341da" /><Relationship Type="http://schemas.openxmlformats.org/officeDocument/2006/relationships/presProps" Target="/ppt/presProps.xml" Id="R73ce5516455c4dfd" /><Relationship Type="http://schemas.openxmlformats.org/officeDocument/2006/relationships/tableStyles" Target="/ppt/tableStyles.xml" Id="R935ac044ea044327" /><Relationship Type="http://schemas.openxmlformats.org/officeDocument/2006/relationships/slide" Target="/ppt/slides/slide1.xml" Id="R537352ff7f9d4cae" /><Relationship Type="http://schemas.openxmlformats.org/officeDocument/2006/relationships/slide" Target="/ppt/slides/slide2.xml" Id="Rc7b0480c41014ab0" /><Relationship Type="http://schemas.openxmlformats.org/officeDocument/2006/relationships/slide" Target="/ppt/slides/slide3.xml" Id="Rce09c09589f44472" /><Relationship Type="http://schemas.openxmlformats.org/officeDocument/2006/relationships/slide" Target="/ppt/slides/slide4.xml" Id="R0963aff8db3d410b" /><Relationship Type="http://schemas.openxmlformats.org/officeDocument/2006/relationships/slide" Target="/ppt/slides/slide5.xml" Id="R6bae8594db9748f8" /><Relationship Type="http://schemas.openxmlformats.org/officeDocument/2006/relationships/slide" Target="/ppt/slides/slide6.xml" Id="Re352c603ef8f428c" /><Relationship Type="http://schemas.openxmlformats.org/officeDocument/2006/relationships/slide" Target="/ppt/slides/slide7.xml" Id="R3a9754d87cac43ca" /><Relationship Type="http://schemas.openxmlformats.org/officeDocument/2006/relationships/slide" Target="/ppt/slides/slide8.xml" Id="Raece314c5dba4ab3" /><Relationship Type="http://schemas.openxmlformats.org/officeDocument/2006/relationships/slide" Target="/ppt/slides/slide9.xml" Id="Rc0be3cfc926c4883" /><Relationship Type="http://schemas.openxmlformats.org/officeDocument/2006/relationships/slide" Target="/ppt/slides/slide10.xml" Id="R558f2e3bef7243be" /><Relationship Type="http://schemas.openxmlformats.org/officeDocument/2006/relationships/slide" Target="/ppt/slides/slide11.xml" Id="Re26cd022ad9d404c" /><Relationship Type="http://schemas.openxmlformats.org/officeDocument/2006/relationships/slide" Target="/ppt/slides/slide12.xml" Id="R114df47cf91641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fc8d95217245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ef6ac658ef4270" /><Relationship Type="http://schemas.openxmlformats.org/officeDocument/2006/relationships/notesMaster" Target="/ppt/notesMasters/notesMaster1.xml" Id="R6e234997c58b4f7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2b681030ef34ff4" /><Relationship Type="http://schemas.openxmlformats.org/officeDocument/2006/relationships/notesMaster" Target="/ppt/notesMasters/notesMaster1.xml" Id="R5924b4654d58424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9b947de1ba34ed8" /><Relationship Type="http://schemas.openxmlformats.org/officeDocument/2006/relationships/notesMaster" Target="/ppt/notesMasters/notesMaster1.xml" Id="R262d5d22bd364f7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0bb85dceb85485c" /><Relationship Type="http://schemas.openxmlformats.org/officeDocument/2006/relationships/notesMaster" Target="/ppt/notesMasters/notesMaster1.xml" Id="R674092b1a4794ad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455d20347c142e6" /><Relationship Type="http://schemas.openxmlformats.org/officeDocument/2006/relationships/notesMaster" Target="/ppt/notesMasters/notesMaster1.xml" Id="R41f5084b084248c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9e6bfd091ef4b1f" /><Relationship Type="http://schemas.openxmlformats.org/officeDocument/2006/relationships/notesMaster" Target="/ppt/notesMasters/notesMaster1.xml" Id="Rd62a8f38cfd6466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fdd188f4ce443af" /><Relationship Type="http://schemas.openxmlformats.org/officeDocument/2006/relationships/notesMaster" Target="/ppt/notesMasters/notesMaster1.xml" Id="Rfc5242f465344f0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5e2dc530e4c45e2" /><Relationship Type="http://schemas.openxmlformats.org/officeDocument/2006/relationships/notesMaster" Target="/ppt/notesMasters/notesMaster1.xml" Id="Rb9d1a1ac960f4c7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74fbf2e6adf46ae" /><Relationship Type="http://schemas.openxmlformats.org/officeDocument/2006/relationships/notesMaster" Target="/ppt/notesMasters/notesMaster1.xml" Id="Rad4d93888ddf48f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71cd01c5f74490d" /><Relationship Type="http://schemas.openxmlformats.org/officeDocument/2006/relationships/notesMaster" Target="/ppt/notesMasters/notesMaster1.xml" Id="Rd248d8d8734d477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cabf2ae70c14354" /><Relationship Type="http://schemas.openxmlformats.org/officeDocument/2006/relationships/notesMaster" Target="/ppt/notesMasters/notesMaster1.xml" Id="R595af70ebcf54ed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aff32b0e836499f" /><Relationship Type="http://schemas.openxmlformats.org/officeDocument/2006/relationships/notesMaster" Target="/ppt/notesMasters/notesMaster1.xml" Id="Rb3b063069da44a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Project-Grocers.pdf, page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Project-Grocers.pdf, page 1 and page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Project-Grocers.pdf, pages 3-8.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Project-Grocers.pdf, pages 5-7.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Project-Grocers.pdf, pages 3-4.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Project-Grocers.pdf, pages 7-8.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Project-Grocers.pdf, page 1. Architecture is a proposed implementation based on the stated technology requirements.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Project-Grocers.pdf, pages 3-8.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Project-Grocers.pdf, pages 1 and 8. Delivery sequence is a proposed presentation summary.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019a19338f441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64742b7454d4ea7" /><Relationship Type="http://schemas.openxmlformats.org/officeDocument/2006/relationships/slideLayout" Target="/ppt/slideLayouts/slideLayout1.xml" Id="Rab0aeb0c3f7143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0aeb0c3f7143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4556f1ba2e48a7" /><Relationship Type="http://schemas.openxmlformats.org/officeDocument/2006/relationships/notesSlide" Target="/ppt/notesSlides/notesSlide1.xml" Id="R19310a122f8e422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0a80ecb9644cd0" /><Relationship Type="http://schemas.openxmlformats.org/officeDocument/2006/relationships/notesSlide" Target="/ppt/notesSlides/notesSlide2.xml" Id="R1732e865239f400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206be53a6049b5" /><Relationship Type="http://schemas.openxmlformats.org/officeDocument/2006/relationships/notesSlide" Target="/ppt/notesSlides/notesSlide3.xml" Id="Rbe4779b491044f1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22e4404bf44755" /><Relationship Type="http://schemas.openxmlformats.org/officeDocument/2006/relationships/notesSlide" Target="/ppt/notesSlides/notesSlide4.xml" Id="Rf555e98fe85f497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6928e220af4dc2" /><Relationship Type="http://schemas.openxmlformats.org/officeDocument/2006/relationships/notesSlide" Target="/ppt/notesSlides/notesSlide5.xml" Id="R31f776b0bacb4ae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bb2ed0d1cb4df2" /><Relationship Type="http://schemas.openxmlformats.org/officeDocument/2006/relationships/notesSlide" Target="/ppt/notesSlides/notesSlide6.xml" Id="R783d3caa2888421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6817931a354200" /><Relationship Type="http://schemas.openxmlformats.org/officeDocument/2006/relationships/notesSlide" Target="/ppt/notesSlides/notesSlide7.xml" Id="R02b354aa2a354df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eeba4ef40a4252" /><Relationship Type="http://schemas.openxmlformats.org/officeDocument/2006/relationships/notesSlide" Target="/ppt/notesSlides/notesSlide8.xml" Id="Rf5140d2b8d5c411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bfccaafdd34dbb" /><Relationship Type="http://schemas.openxmlformats.org/officeDocument/2006/relationships/notesSlide" Target="/ppt/notesSlides/notesSlide9.xml" Id="R58daf210749b416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8a1d5442934afa" /><Relationship Type="http://schemas.openxmlformats.org/officeDocument/2006/relationships/notesSlide" Target="/ppt/notesSlides/notesSlide10.xml" Id="Re02933fb2f2a493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93d0262a984d53" /><Relationship Type="http://schemas.openxmlformats.org/officeDocument/2006/relationships/notesSlide" Target="/ppt/notesSlides/notesSlide11.xml" Id="R0c9a0355480b47e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a3e782d8a64b71" /><Relationship Type="http://schemas.openxmlformats.org/officeDocument/2006/relationships/notesSlide" Target="/ppt/notesSlides/notesSlide12.xml" Id="Rbae2e5abaf2b414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3B10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41F900-725F-437C-A133-8EBF4359A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101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19A80C-FE41-4ABB-9F8B-10945CB1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0A9F43-C8A6-4F0A-8B0C-E4D94DBE1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666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917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ONLINE GROCERS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A5203F-1CF1-4080-800B-752D82438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561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927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DDD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2DDD7"/>
                </a:solidFill>
                <a:latin typeface="Arial"/>
                <a:ea typeface="Arial"/>
                <a:cs typeface="Arial"/>
              </a:rPr>
              <a:t>A web application for grocery shopping, inventory control, and order operations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015886-2E2E-41F9-94A2-8477D64F6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99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Project Presentation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276AE5-ACCD-414E-9D45-49F3F0D82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4725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2DDD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2DDD7"/>
                </a:solidFill>
                <a:latin typeface="Arial"/>
                <a:ea typeface="Arial"/>
                <a:cs typeface="Arial"/>
              </a:rPr>
              <a:t>Team 1  |  September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DFF6D6-ADA7-4CF9-B4C6-D1D325E21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028700"/>
            <a:ext cx="3333750" cy="3333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FB3C8D-ED63-4767-B182-8C8264064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524000"/>
            <a:ext cx="2343150" cy="2343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A29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EB48AA-EC98-42E9-84E3-F74FAAB6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457450"/>
            <a:ext cx="2209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476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B101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B1012"/>
                </a:solidFill>
                <a:latin typeface="Arial"/>
                <a:ea typeface="Arial"/>
                <a:cs typeface="Arial"/>
              </a:rPr>
              <a:t>GROCERS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668F0F-897B-4FD9-A5EE-980B52D8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43450"/>
            <a:ext cx="342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222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Fresh orders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Clear operations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Reliable fulfillment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B52D4C-6804-45E1-8037-0A184E91A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857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6667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F2DDD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2DDD7"/>
                </a:solidFill>
                <a:latin typeface="Arial"/>
                <a:ea typeface="Arial"/>
                <a:cs typeface="Arial"/>
              </a:rPr>
              <a:t>Source: Project-Grocers.pdf</a:t>
            </a:r>
          </a:p>
        </p:txBody>
      </p:sp>
    </p:spTree>
    <p:extLst>
      <p:ext uri="{BB962C8B-B14F-4D97-AF65-F5344CB8AC3E}">
        <p14:creationId xmlns:p14="http://schemas.microsoft.com/office/powerpoint/2010/main" val="13404703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3EFD3C-C68D-4783-9962-F96B89F94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23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ONLINE GROCERS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426010-B8F4-434F-9C22-F4AE828E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19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A1716"/>
                </a:solidFill>
                <a:latin typeface="Arial"/>
                <a:ea typeface="Arial"/>
                <a:cs typeface="Arial"/>
              </a:rPr>
              <a:t>Project Overview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D5C54F-B519-4189-86A6-3AF5E3376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3807F2-9203-40E7-8F00-0B6A4C101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Objective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BB6590-4A2F-4FBF-88E2-36406DC46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457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056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A1716"/>
                </a:solidFill>
                <a:latin typeface="Arial"/>
                <a:ea typeface="Arial"/>
                <a:cs typeface="Arial"/>
              </a:rPr>
              <a:t>Create a dynamic online grocery platform that supports purchasing, administration, and inventory operations.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E7A6DC-232E-455B-A267-57AF0F1FE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676400"/>
            <a:ext cx="45720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7FC621-BE99-40BD-AD32-3F4452280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002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Core scope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DF42FE-F9F9-4EA2-AF36-17CC773C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860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B83A24-585F-4B6C-901C-5AEB28E6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00300"/>
            <a:ext cx="3476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A1716"/>
                </a:solidFill>
                <a:latin typeface="Arial"/>
                <a:ea typeface="Arial"/>
                <a:cs typeface="Arial"/>
              </a:rPr>
              <a:t>REST APIs with a modern web frontend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AD2510-0C68-411D-B866-F025207BF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43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DCFB0B-7A09-40DE-8BD4-75C9B565D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57500"/>
            <a:ext cx="3476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A1716"/>
                </a:solidFill>
                <a:latin typeface="Arial"/>
                <a:ea typeface="Arial"/>
                <a:cs typeface="Arial"/>
              </a:rPr>
              <a:t>Admin, User, and Employee portals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519D43-3007-4C71-9406-F3529C3E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004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18C13A-A55E-49E8-8B26-46BC5DEB0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314700"/>
            <a:ext cx="3476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503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A1716"/>
                </a:solidFill>
                <a:latin typeface="Arial"/>
                <a:ea typeface="Arial"/>
                <a:cs typeface="Arial"/>
              </a:rPr>
              <a:t>Database-backed products, accounts, orders, and requests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84AC4F-66ED-46FA-B994-169F991B0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857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072A7D-82EE-4BD2-A87F-568EF8E04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771900"/>
            <a:ext cx="3476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A1716"/>
                </a:solidFill>
                <a:latin typeface="Arial"/>
                <a:ea typeface="Arial"/>
                <a:cs typeface="Arial"/>
              </a:rPr>
              <a:t>Single-page experience after sign-in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E7119B-4E0E-4F79-85B6-952B8046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007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Suggested technology stack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EA5631-4C78-434F-9C4B-001ADD00B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A1716"/>
                </a:solidFill>
                <a:latin typeface="Arial"/>
                <a:ea typeface="Arial"/>
                <a:cs typeface="Arial"/>
              </a:rPr>
              <a:t>Spring Boot or JAX-RS  /  React.js or Angular  /  Node.js  /  Database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3789DE-5E55-4F65-A93C-77915ADAE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5854"/>
                </a:solidFill>
                <a:latin typeface="Arial"/>
                <a:ea typeface="Arial"/>
                <a:cs typeface="Arial"/>
              </a:rPr>
              <a:t>Grocers Project  |  Team 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0D527C-541B-4FE0-9E5D-0B2C583F3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585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585535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F33E5B-268F-4B11-85A8-E662A2CA3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23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ONLINE GROCERS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CACB3F-2AB8-47A1-BFEF-B9E53D96D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19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A1716"/>
                </a:solidFill>
                <a:latin typeface="Arial"/>
                <a:ea typeface="Arial"/>
                <a:cs typeface="Arial"/>
              </a:rPr>
              <a:t>Platform Roles and Responsibilities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3194A8-3D30-4033-8C91-1C9E4315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0FD6D1-68C6-49EB-BD1A-39D96C84E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3048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101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02B7E5-7BD3-4300-B010-F7224C56A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002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27145F-B67C-43F9-A604-61485B20A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241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CD60A3-5B61-4535-AE02-7277657B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76575"/>
            <a:ext cx="2343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2DDD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2DDD7"/>
                </a:solidFill>
                <a:latin typeface="Arial"/>
                <a:ea typeface="Arial"/>
                <a:cs typeface="Arial"/>
              </a:rPr>
              <a:t>Catalog, employees, requests, reports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743C8D-C7B8-4395-8704-BF455B994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47850"/>
            <a:ext cx="3048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648993-B355-401B-9465-31738715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002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A1716"/>
                </a:solidFill>
                <a:latin typeface="Arial"/>
                <a:ea typeface="Arial"/>
                <a:cs typeface="Arial"/>
              </a:rPr>
              <a:t>USER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75F3E2-602E-4C92-9695-5B4D047D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241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744ADE-056F-4985-AD14-06E729C14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76575"/>
            <a:ext cx="2343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A1716"/>
                </a:solidFill>
                <a:latin typeface="Arial"/>
                <a:ea typeface="Arial"/>
                <a:cs typeface="Arial"/>
              </a:rPr>
              <a:t>Browse, cart, checkout, orders, funds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9592ED-6C75-445D-B999-52740D132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847850"/>
            <a:ext cx="3048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E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4071EE-8385-44E4-ABB4-F161787BB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002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A1716"/>
                </a:solidFill>
                <a:latin typeface="Arial"/>
                <a:ea typeface="Arial"/>
                <a:cs typeface="Arial"/>
              </a:rPr>
              <a:t>EMPLOYEE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5E103A-1A97-447C-8CB3-880C4BFEA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241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E07627-8022-40C3-8D40-9DC449B3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76575"/>
            <a:ext cx="2343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A1716"/>
                </a:solidFill>
                <a:latin typeface="Arial"/>
                <a:ea typeface="Arial"/>
                <a:cs typeface="Arial"/>
              </a:rPr>
              <a:t>Inventory requests, order updates, unlocks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36BACF-0A39-410A-AF68-0348C8B65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A1716"/>
                </a:solidFill>
                <a:latin typeface="Arial"/>
                <a:ea typeface="Arial"/>
                <a:cs typeface="Arial"/>
              </a:rPr>
              <a:t>The application routes each authenticated user to a role-specific dashboard.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F6A6BD-FDBC-4F69-9F98-A35E11483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5854"/>
                </a:solidFill>
                <a:latin typeface="Arial"/>
                <a:ea typeface="Arial"/>
                <a:cs typeface="Arial"/>
              </a:rPr>
              <a:t>Grocers Project  |  Team 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9A15FB-6293-4ECB-839A-9D6CF292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585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855801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63120E-9884-4FFF-B109-86DAB069C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23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ONLINE GROCERS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2794AB-E23C-456B-A7DC-22E34E6BE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19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A1716"/>
                </a:solidFill>
                <a:latin typeface="Arial"/>
                <a:ea typeface="Arial"/>
                <a:cs typeface="Arial"/>
              </a:rPr>
              <a:t>User Shopping Experience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54BC9D-2126-4114-8A52-29E0C2298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5D3D83-1B64-4F79-829F-94D0F983D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AFE433-BF4B-4579-B0FB-542D56C3D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2076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FC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0D1CF3-A243-4C3E-99B6-A1DDF78D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A1716"/>
                </a:solidFill>
                <a:latin typeface="Arial"/>
                <a:ea typeface="Arial"/>
                <a:cs typeface="Arial"/>
              </a:rPr>
              <a:t>Register and sign 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238E4B-BCA8-4125-9DE2-ED384CCF0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8478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24560E-2A8D-4B5E-BFA6-4286B9432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457450"/>
            <a:ext cx="2076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FC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37BC86-EEED-4039-ADCB-44E146206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70510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368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A1716"/>
                </a:solidFill>
                <a:latin typeface="Arial"/>
                <a:ea typeface="Arial"/>
                <a:cs typeface="Arial"/>
              </a:rPr>
              <a:t>Browse and manage cart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35E1D5-7560-4980-9283-F8FB279C7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478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FC0C40-A3FA-4A87-972D-C0B9F4C44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57450"/>
            <a:ext cx="2076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FC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3470EB-2F13-42B1-B29E-43635D96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0510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368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A1716"/>
                </a:solidFill>
                <a:latin typeface="Arial"/>
                <a:ea typeface="Arial"/>
                <a:cs typeface="Arial"/>
              </a:rPr>
              <a:t>Add funds and checkout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E8B737-732B-48E2-AC52-06C949045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8478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561C19-217F-4389-8C24-1FE060DCC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457450"/>
            <a:ext cx="2076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FC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80AA02-B96F-46F4-8EEE-39F165BE7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70510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A1716"/>
                </a:solidFill>
                <a:latin typeface="Arial"/>
                <a:ea typeface="Arial"/>
                <a:cs typeface="Arial"/>
              </a:rPr>
              <a:t>Track order status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391295-C967-473C-9B97-5ECF16925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9906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C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D5BC40-43F7-439F-860F-809CC3808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910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Key controls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BCBA53-7BB2-4B0D-9E9F-DA2BFB66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9580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403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A1716"/>
                </a:solidFill>
                <a:latin typeface="Arial"/>
                <a:ea typeface="Arial"/>
                <a:cs typeface="Arial"/>
              </a:rPr>
              <a:t>Lock accounts after three unsuccessful sign-in attempts. Customers can raise a ticket for an employee to review and unlock the account.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385C71-F40D-474E-9FC6-CEEC0897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5854"/>
                </a:solidFill>
                <a:latin typeface="Arial"/>
                <a:ea typeface="Arial"/>
                <a:cs typeface="Arial"/>
              </a:rPr>
              <a:t>Grocers Project  |  Team 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864789-E11E-47CA-9B38-3256F9E5D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585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999996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72B183-B174-41A1-B709-667D1882F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23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ONLINE GROCERS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0E45F4-0DA9-4F10-BB45-38E37C124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19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A1716"/>
                </a:solidFill>
                <a:latin typeface="Arial"/>
                <a:ea typeface="Arial"/>
                <a:cs typeface="Arial"/>
              </a:rPr>
              <a:t>Admin Portal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2B2662-80A4-4B77-81CD-958FE3A7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3D9CE1-BD24-4F2C-B7A9-FCEE4618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04975"/>
            <a:ext cx="4191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101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0CA143-F627-438E-84CD-FDE62B8FE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764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Control center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D9E4FC-F6FA-4E71-9B3D-7A2240474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05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50D13A-065B-428F-96C1-06BB9A60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1937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Add, update, and delete products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C9A4A1-63A1-4159-BD08-74F560531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62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BF2B8F-63DD-4897-8481-7DBC0147B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7657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Manage employee accounts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44154F-024C-40D5-9715-BD6D7B08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19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E38828-2EEA-45EA-96C7-CD45A258E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 inventory requests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F87958-605D-4F70-906F-5D7E26AA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76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01D7B5-E2A8-4A19-98C9-C1221E2AB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9097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Generate order reports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2B1494-84EC-426A-8E0F-64F4783CA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704975"/>
            <a:ext cx="4953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D0FD70-F624-47F3-A37A-7A80D237A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764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A1716"/>
                </a:solidFill>
                <a:latin typeface="Arial"/>
                <a:ea typeface="Arial"/>
                <a:cs typeface="Arial"/>
              </a:rPr>
              <a:t>Reporting options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23D84F-CEA1-4A38-B18E-1D3F8244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05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973305-29EE-4920-B9C8-749A9B35A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193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A1716"/>
                </a:solidFill>
                <a:latin typeface="Arial"/>
                <a:ea typeface="Arial"/>
                <a:cs typeface="Arial"/>
              </a:rPr>
              <a:t>Daily, weekly, and monthly reports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9C44DD-8120-4432-AFB4-449AE0522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162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5DD79E-17BC-4B91-81C7-E26F1A8E1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765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A1716"/>
                </a:solidFill>
                <a:latin typeface="Arial"/>
                <a:ea typeface="Arial"/>
                <a:cs typeface="Arial"/>
              </a:rPr>
              <a:t>Product-specific report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3FA584-74EE-40C7-9258-AAE98994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619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463624-73B5-4331-97D3-41A2CCACB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5337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A1716"/>
                </a:solidFill>
                <a:latin typeface="Arial"/>
                <a:ea typeface="Arial"/>
                <a:cs typeface="Arial"/>
              </a:rPr>
              <a:t>Customer-specific report 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8C5030-BF46-470B-AF48-453361F38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076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FB6DE2-6390-4924-A4F5-C797D7A21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909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A1716"/>
                </a:solidFill>
                <a:latin typeface="Arial"/>
                <a:ea typeface="Arial"/>
                <a:cs typeface="Arial"/>
              </a:rPr>
              <a:t>Secure admin sign-in and logout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9AEDD4-9DD6-4AB3-8F59-C87DFFFA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5854"/>
                </a:solidFill>
                <a:latin typeface="Arial"/>
                <a:ea typeface="Arial"/>
                <a:cs typeface="Arial"/>
              </a:rPr>
              <a:t>Grocers Project  |  Team 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927D9C-081B-4BEF-96BC-F3B9CAA47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585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106488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EF9FB9-6D74-41A3-B3CD-4A3F99ABF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23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ONLINE GROCERS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E37ED6-F756-457D-9306-250810A8F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19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A1716"/>
                </a:solidFill>
                <a:latin typeface="Arial"/>
                <a:ea typeface="Arial"/>
                <a:cs typeface="Arial"/>
              </a:rPr>
              <a:t>Employee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07EF7C-F6CC-47DE-9EBD-862DF2634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CE7B60-F102-4226-AE8E-ABE1E1E8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A1716"/>
                </a:solidFill>
                <a:latin typeface="Arial"/>
                <a:ea typeface="Arial"/>
                <a:cs typeface="Arial"/>
              </a:rPr>
              <a:t>Employees keep inventory and fulfillment moving after secure sign-in and first-login password change.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973B2E-D4D4-43F3-8BE1-7B9C7D7C6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990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3CF75F-8CC7-47FB-AC40-ACD429846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0032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Inventory requests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56A15F-84AA-4621-981D-2D2026DCB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60032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A1716"/>
                </a:solidFill>
                <a:latin typeface="Arial"/>
                <a:ea typeface="Arial"/>
                <a:cs typeface="Arial"/>
              </a:rPr>
              <a:t>Ask the admin to replenish or adjust products.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FC6885-535D-4916-9879-059060C00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62325"/>
            <a:ext cx="990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7E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B27635-E6B4-42B6-85C9-C6C1EBBE1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337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Order status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EB664E-C5EA-45D8-B829-42C85F13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5337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A1716"/>
                </a:solidFill>
                <a:latin typeface="Arial"/>
                <a:ea typeface="Arial"/>
                <a:cs typeface="Arial"/>
              </a:rPr>
              <a:t>Set shipped, out for delivery, delivered, or cancelled.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6E1521-7AA6-4502-A013-EF3742C3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95775"/>
            <a:ext cx="990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0E34EE-AE22-4942-B957-73D10CE9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6722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Account support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62C6F0-99FF-4434-B006-944D7577A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46722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A1716"/>
                </a:solidFill>
                <a:latin typeface="Arial"/>
                <a:ea typeface="Arial"/>
                <a:cs typeface="Arial"/>
              </a:rPr>
              <a:t>Review tickets and unlock eligible user accounts.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F93FAD-EC57-4EAF-B058-75AC4A31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5854"/>
                </a:solidFill>
                <a:latin typeface="Arial"/>
                <a:ea typeface="Arial"/>
                <a:cs typeface="Arial"/>
              </a:rPr>
              <a:t>Grocers Project  |  Team 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D26470-D2C3-4B92-BA31-3E3C55A2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585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793017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53DBD3-32FF-42A9-BFD8-C56733A5D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23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ONLINE GROCERS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0BC1A7-BF61-4965-A4CF-839ADF483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19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A1716"/>
                </a:solidFill>
                <a:latin typeface="Arial"/>
                <a:ea typeface="Arial"/>
                <a:cs typeface="Arial"/>
              </a:rPr>
              <a:t>Proposed Application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6D2138-6EDC-4188-AB6C-EE23435B2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1315F9-E3B4-493E-BB06-EAB937C5E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52600"/>
            <a:ext cx="7524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69169D-D7E3-4638-8524-04D1134AA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96215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Web frontend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AB63BA-2125-49B8-9757-3C1FDB38D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621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A1716"/>
                </a:solidFill>
                <a:latin typeface="Arial"/>
                <a:ea typeface="Arial"/>
                <a:cs typeface="Arial"/>
              </a:rPr>
              <a:t>Role-based single-page portal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63E6ED-6E1A-453D-84FA-11684ECC3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670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F8696A-8DEE-45CD-924C-29DEB7E12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28950"/>
            <a:ext cx="7524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101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311A68-8572-4DB6-8341-06C29672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23850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REST API layer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3D0D2B-FE6E-49FA-82E9-4F0547324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385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103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Authentication, catalog, cart, order, ticket, and reporting services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CD1BFD-2429-4132-BFF9-15F57EF3B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9433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FD0361-268D-4ED9-B419-0DC4C50C0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05300"/>
            <a:ext cx="7524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59BF84-C56C-4F12-B330-6D72E49B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51485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Database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5E5547-21E2-4E6D-8253-947300B47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148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A1716"/>
                </a:solidFill>
                <a:latin typeface="Arial"/>
                <a:ea typeface="Arial"/>
                <a:cs typeface="Arial"/>
              </a:rPr>
              <a:t>Users, employees, products, orders, funds, and requests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F8BF22-A2C0-44C9-B70F-D85DF873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1526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7778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Design principle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2CC739-C6E6-40E1-BF07-B124709F4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495550"/>
            <a:ext cx="1714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A1716"/>
                </a:solidFill>
                <a:latin typeface="Arial"/>
                <a:ea typeface="Arial"/>
                <a:cs typeface="Arial"/>
              </a:rPr>
              <a:t>Separate role portals share the same service and data foundation.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E8D635-5FA0-4226-B991-09E71CE8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5854"/>
                </a:solidFill>
                <a:latin typeface="Arial"/>
                <a:ea typeface="Arial"/>
                <a:cs typeface="Arial"/>
              </a:rPr>
              <a:t>Grocers Project  |  Team 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EB2ED5-BA95-461B-9593-45C701A69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5854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519097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1FBB0A-83A1-464F-9CA9-50F86F32E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23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ONLINE GROCERS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E54DEA-1EDA-408F-B9C2-A70F47C29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19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A1716"/>
                </a:solidFill>
                <a:latin typeface="Arial"/>
                <a:ea typeface="Arial"/>
                <a:cs typeface="Arial"/>
              </a:rPr>
              <a:t>Business Rules and Validation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825D0B-C86D-4D9A-BFDF-8B37A7795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0A11AE-C721-4507-BC3A-1C2970BE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Authentication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7F06B6-1189-4E4F-87E1-0BD6D1645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638300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A1716"/>
                </a:solidFill>
                <a:latin typeface="Arial"/>
                <a:ea typeface="Arial"/>
                <a:cs typeface="Arial"/>
              </a:rPr>
              <a:t>Validate credentials and show clear error messages.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495565-6A74-49C5-A955-1DD1D7471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85975"/>
            <a:ext cx="9886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FC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691EDD-D156-48B0-9364-30124E1D4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Account protection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D85811-D6B5-4A40-9BA2-8DAB676E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324100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A1716"/>
                </a:solidFill>
                <a:latin typeface="Arial"/>
                <a:ea typeface="Arial"/>
                <a:cs typeface="Arial"/>
              </a:rPr>
              <a:t>Lock user access after three failed sign-in attempts.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E82DC5-0DF9-4E1C-B708-EBA10659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71775"/>
            <a:ext cx="9886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FC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0E036D-DC8E-474F-B3FA-FD9F092D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Checkout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5AAFDE-E595-41C8-8CEA-1977884A9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009900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A1716"/>
                </a:solidFill>
                <a:latin typeface="Arial"/>
                <a:ea typeface="Arial"/>
                <a:cs typeface="Arial"/>
              </a:rPr>
              <a:t>Place an order only when available funds cover the cart total.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A40BAA-475D-4199-A608-2B1734EC1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7575"/>
            <a:ext cx="9886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FC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277386-72BF-4F25-B46F-6C584DBFC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Cancellation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80EAA1-F7AB-4A40-A40C-0FC72650B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695700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A1716"/>
                </a:solidFill>
                <a:latin typeface="Arial"/>
                <a:ea typeface="Arial"/>
                <a:cs typeface="Arial"/>
              </a:rPr>
              <a:t>Refund funds and show the reason when an employee cancels an order.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C9D948-98B0-4877-A6FE-BFFE79D30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9886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FC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F37EFE-4F00-4394-9A02-21D5C9E70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Data quality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15EEBD-4970-49F6-9F31-4712DCEE9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381500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A1716"/>
                </a:solidFill>
                <a:latin typeface="Arial"/>
                <a:ea typeface="Arial"/>
                <a:cs typeface="Arial"/>
              </a:rPr>
              <a:t>Generate primary keys and validate required form inputs.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D0D564-242E-4F0D-80ED-AA4751D88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29175"/>
            <a:ext cx="9886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FC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B7D75C-2B06-4003-A075-A48B123AF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5854"/>
                </a:solidFill>
                <a:latin typeface="Arial"/>
                <a:ea typeface="Arial"/>
                <a:cs typeface="Arial"/>
              </a:rPr>
              <a:t>Grocers Project  |  Team 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D0AD35-221D-45A4-8BBF-221C01ABB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5854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928988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CA676A-D254-4846-8EC0-1DF4589A2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23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ONLINE GROCERS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EDFC52-D4E4-4673-AD1D-CAB9BD24A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19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A1716"/>
                </a:solidFill>
                <a:latin typeface="Arial"/>
                <a:ea typeface="Arial"/>
                <a:cs typeface="Arial"/>
              </a:rPr>
              <a:t>Delivery Focus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0B8427-09FD-418D-96FC-E55495EB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BD2FAE-7150-4DEA-A40A-1EA3F0E3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895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A1716"/>
                </a:solidFill>
                <a:latin typeface="Arial"/>
                <a:ea typeface="Arial"/>
                <a:cs typeface="Arial"/>
              </a:rPr>
              <a:t>The first release should cover every required use case before optional enhancements.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59ADCE-48C3-4AE1-B142-50AB1E751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667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E3DE94-6C16-41F6-BD5A-E5F06A60F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908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158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AD5BE7-6541-4702-99D0-4DD4526BE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14650"/>
            <a:ext cx="3952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A1716"/>
                </a:solidFill>
                <a:latin typeface="Arial"/>
                <a:ea typeface="Arial"/>
                <a:cs typeface="Arial"/>
              </a:rPr>
              <a:t>Data model, authentication, and role routing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690115-E492-4F7A-BDA8-0D5E2E6B8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381250"/>
            <a:ext cx="4667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189505-5464-4BCE-B9FE-75556A6C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908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158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Core commerce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00D839-C726-4945-AA5D-2651186E8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14650"/>
            <a:ext cx="3952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A1716"/>
                </a:solidFill>
                <a:latin typeface="Arial"/>
                <a:ea typeface="Arial"/>
                <a:cs typeface="Arial"/>
              </a:rPr>
              <a:t>Products, cart, funds, checkout, and orders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F0437D-E7CA-4C31-89B0-208D8261B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4667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DC5954-4EFD-48B8-AA7E-FA991D6DE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767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158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7E1391-3C22-4395-86F2-E9B488FA4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00550"/>
            <a:ext cx="3952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103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A1716"/>
                </a:solidFill>
                <a:latin typeface="Arial"/>
                <a:ea typeface="Arial"/>
                <a:cs typeface="Arial"/>
              </a:rPr>
              <a:t>Inventory requests, reports, tickets, and user unlocking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F44E09-786A-4E3B-BDDE-2784A0AEF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867150"/>
            <a:ext cx="4667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E4F139-A205-4CB1-8960-EF2A1C980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767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158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Quality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18DE23-C876-420C-A05B-B3B81B380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00550"/>
            <a:ext cx="3952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615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A1716"/>
                </a:solidFill>
                <a:latin typeface="Arial"/>
                <a:ea typeface="Arial"/>
                <a:cs typeface="Arial"/>
              </a:rPr>
              <a:t>Validation, error messages, and responsive interface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06FC3F-98F4-4CF9-92A4-714D08EAE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5854"/>
                </a:solidFill>
                <a:latin typeface="Arial"/>
                <a:ea typeface="Arial"/>
                <a:cs typeface="Arial"/>
              </a:rPr>
              <a:t>Grocers Project  |  Team 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3321FC-7809-43C1-92E3-C0C70C44E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5854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361185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B4B938-2648-4CF9-AAA6-000D678BA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23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TEAM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D61FB3-D3BB-41DA-BE82-41F83D734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19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A1716"/>
                </a:solidFill>
                <a:latin typeface="Arial"/>
                <a:ea typeface="Arial"/>
                <a:cs typeface="Arial"/>
              </a:rPr>
              <a:t>Team Contributions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DFAEDF-E3D0-40E4-B08D-C9753977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56C3BB-EF82-4AD7-926F-A1E9FEB3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51435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E71FF3-54F9-43F2-9C36-FC8C0BDB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62150"/>
            <a:ext cx="1238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6C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600E52-0AB0-4E03-8A6A-A0697DDEE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390775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654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5854"/>
                </a:solidFill>
                <a:latin typeface="Arial"/>
                <a:ea typeface="Arial"/>
                <a:cs typeface="Arial"/>
              </a:rPr>
              <a:t>PHOTO</a:t>
            </a:r>
          </a:p>
          <a:p xmlns:a="http://schemas.openxmlformats.org/drawingml/2006/main">
            <a:pPr>
              <a:defRPr sz="900" b="1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5854"/>
                </a:solidFill>
                <a:latin typeface="Arial"/>
                <a:ea typeface="Arial"/>
                <a:cs typeface="Arial"/>
              </a:rPr>
              <a:t>PLACEHOLDER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AF6E81-B9A0-4BE8-9E74-4C2262E88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9526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A1716"/>
                </a:solidFill>
                <a:latin typeface="Arial"/>
                <a:ea typeface="Arial"/>
                <a:cs typeface="Arial"/>
              </a:rPr>
              <a:t>Akash 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AA76A3-393A-47C6-8A1F-3B03A7B3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5717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Major contributions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9D593F-9359-40CE-BBD9-61F285DC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84797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A1716"/>
                </a:solidFill>
                <a:latin typeface="Arial"/>
                <a:ea typeface="Arial"/>
                <a:cs typeface="Arial"/>
              </a:rPr>
              <a:t>[To be confirmed]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BA4CBD-B77C-4D6B-9407-C9694B60A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33775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Partial contributions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B036B7-1AA3-4483-B32A-A8D59E998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8100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A1716"/>
                </a:solidFill>
                <a:latin typeface="Arial"/>
                <a:ea typeface="Arial"/>
                <a:cs typeface="Arial"/>
              </a:rPr>
              <a:t>[To be confirmed]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8917AB-94EE-43EE-B837-C4170E63F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62100"/>
            <a:ext cx="51435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6E2242-26BB-487F-B570-B7B6C076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962150"/>
            <a:ext cx="1238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6C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DBC793-200E-4570-B8BD-DC9C575A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90775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654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5854"/>
                </a:solidFill>
                <a:latin typeface="Arial"/>
                <a:ea typeface="Arial"/>
                <a:cs typeface="Arial"/>
              </a:rPr>
              <a:t>PHOTO</a:t>
            </a:r>
          </a:p>
          <a:p xmlns:a="http://schemas.openxmlformats.org/drawingml/2006/main">
            <a:pPr>
              <a:defRPr sz="900" b="1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5854"/>
                </a:solidFill>
                <a:latin typeface="Arial"/>
                <a:ea typeface="Arial"/>
                <a:cs typeface="Arial"/>
              </a:rPr>
              <a:t>PLACEHOLDER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DC991-3C45-49C6-B749-D1E99039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526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A1716"/>
                </a:solidFill>
                <a:latin typeface="Arial"/>
                <a:ea typeface="Arial"/>
                <a:cs typeface="Arial"/>
              </a:rPr>
              <a:t>Arjun P Chandra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61C5EF-4C24-4C51-A6CD-AC7A5DB69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717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Major contributions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4A8CDE-57C4-4D79-BC70-10554AAA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4797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A1716"/>
                </a:solidFill>
                <a:latin typeface="Arial"/>
                <a:ea typeface="Arial"/>
                <a:cs typeface="Arial"/>
              </a:rPr>
              <a:t>[To be confirmed]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6A4C4C-00CA-4FEA-AA60-740778374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33775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Partial contributions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78E548-BCBC-4146-854D-DE6638476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100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A1716"/>
                </a:solidFill>
                <a:latin typeface="Arial"/>
                <a:ea typeface="Arial"/>
                <a:cs typeface="Arial"/>
              </a:rPr>
              <a:t>[To be confirmed]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9E9F29-99FA-480C-BAEE-A36E7484D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5854"/>
                </a:solidFill>
                <a:latin typeface="Arial"/>
                <a:ea typeface="Arial"/>
                <a:cs typeface="Arial"/>
              </a:rPr>
              <a:t>Grocers Project  |  Team 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872E9D-5897-4F67-AA71-F72CE9771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585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2664721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208383-45A6-4E3C-9395-31B174487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23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TEAM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449FC5-43AC-40F0-88FE-7B89A6C8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19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A1716"/>
                </a:solidFill>
                <a:latin typeface="Arial"/>
                <a:ea typeface="Arial"/>
                <a:cs typeface="Arial"/>
              </a:rPr>
              <a:t>Team Contributions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7582D0-89CB-4A63-B0C8-2B40C164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EB9798-7A80-40F0-BE14-97B0441EF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51435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B57DF8-2AD8-4C98-B604-A7BA36B06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62150"/>
            <a:ext cx="1238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6C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C92F9B-4538-4872-BB87-6DBF55F34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390775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654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5854"/>
                </a:solidFill>
                <a:latin typeface="Arial"/>
                <a:ea typeface="Arial"/>
                <a:cs typeface="Arial"/>
              </a:rPr>
              <a:t>PHOTO</a:t>
            </a:r>
          </a:p>
          <a:p xmlns:a="http://schemas.openxmlformats.org/drawingml/2006/main">
            <a:pPr>
              <a:defRPr sz="900" b="1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5854"/>
                </a:solidFill>
                <a:latin typeface="Arial"/>
                <a:ea typeface="Arial"/>
                <a:cs typeface="Arial"/>
              </a:rPr>
              <a:t>PLACEHOLDER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C17681-C897-4F17-B263-F561ECB6B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9526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A1716"/>
                </a:solidFill>
                <a:latin typeface="Arial"/>
                <a:ea typeface="Arial"/>
                <a:cs typeface="Arial"/>
              </a:rPr>
              <a:t>Karugapuram Abhiram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FDA854-061C-4AD1-A5CA-B9FAA201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5717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Major contributions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011898-6BD5-4329-AC11-A54E51B1D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84797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A1716"/>
                </a:solidFill>
                <a:latin typeface="Arial"/>
                <a:ea typeface="Arial"/>
                <a:cs typeface="Arial"/>
              </a:rPr>
              <a:t>[To be confirmed]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60305E-65D2-499F-9331-2F7B4C886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33775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Partial contributions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23F103-DF0C-4BDC-81BC-62122CEFD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8100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A1716"/>
                </a:solidFill>
                <a:latin typeface="Arial"/>
                <a:ea typeface="Arial"/>
                <a:cs typeface="Arial"/>
              </a:rPr>
              <a:t>[To be confirmed]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4E51DB-0C93-4DFE-9E46-BF07F658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62100"/>
            <a:ext cx="51435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D89EF9-4593-4E2F-AE35-67B6F8879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962150"/>
            <a:ext cx="1238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6C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D0A742-CF95-4E05-BC1A-8B319E53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90775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654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5854"/>
                </a:solidFill>
                <a:latin typeface="Arial"/>
                <a:ea typeface="Arial"/>
                <a:cs typeface="Arial"/>
              </a:rPr>
              <a:t>PHOTO</a:t>
            </a:r>
          </a:p>
          <a:p xmlns:a="http://schemas.openxmlformats.org/drawingml/2006/main">
            <a:pPr>
              <a:defRPr sz="900" b="1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5854"/>
                </a:solidFill>
                <a:latin typeface="Arial"/>
                <a:ea typeface="Arial"/>
                <a:cs typeface="Arial"/>
              </a:rPr>
              <a:t>PLACEHOLDER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E033C6-EB1F-44CD-87C1-A225EF2B5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526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A1716"/>
                </a:solidFill>
                <a:latin typeface="Arial"/>
                <a:ea typeface="Arial"/>
                <a:cs typeface="Arial"/>
              </a:rPr>
              <a:t>Pragathi Sanjeev Acharya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2B5B09-0673-4351-B88C-9EDDF9DAE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717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Major contributions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1A08CB-7ABA-4B96-A449-F9681B5E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4797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A1716"/>
                </a:solidFill>
                <a:latin typeface="Arial"/>
                <a:ea typeface="Arial"/>
                <a:cs typeface="Arial"/>
              </a:rPr>
              <a:t>[To be confirmed]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6E7333-D0F3-4C63-B419-F108E7A13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33775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Partial contributions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8485D8-854D-400F-A9EA-86160E414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100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A1716"/>
                </a:solidFill>
                <a:latin typeface="Arial"/>
                <a:ea typeface="Arial"/>
                <a:cs typeface="Arial"/>
              </a:rPr>
              <a:t>[To be confirmed]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CC8C1F-5DC4-4553-85DF-D8749F9D2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5854"/>
                </a:solidFill>
                <a:latin typeface="Arial"/>
                <a:ea typeface="Arial"/>
                <a:cs typeface="Arial"/>
              </a:rPr>
              <a:t>Grocers Project  |  Team 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1AAB5E-5817-41DF-A316-7C37A832A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5854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7670463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D847CA-3135-4D2A-AF92-A5809B8FA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23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TEAM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15721B-2A65-4DCD-8C93-818E17296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19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A1716"/>
                </a:solidFill>
                <a:latin typeface="Arial"/>
                <a:ea typeface="Arial"/>
                <a:cs typeface="Arial"/>
              </a:rPr>
              <a:t>Team Contributions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AEEC6B-B56E-412D-8A75-2401DAC7D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41F883-7ED9-4FE2-80B7-1733EC482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562100"/>
            <a:ext cx="6858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CBBF41-74E9-403E-B110-8604E40EB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962150"/>
            <a:ext cx="1238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6C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180F22-86DA-419A-B337-740CE2928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390775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654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5854"/>
                </a:solidFill>
                <a:latin typeface="Arial"/>
                <a:ea typeface="Arial"/>
                <a:cs typeface="Arial"/>
              </a:rPr>
              <a:t>PHOTO</a:t>
            </a:r>
          </a:p>
          <a:p xmlns:a="http://schemas.openxmlformats.org/drawingml/2006/main">
            <a:pPr>
              <a:defRPr sz="900" b="1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5854"/>
                </a:solidFill>
                <a:latin typeface="Arial"/>
                <a:ea typeface="Arial"/>
                <a:cs typeface="Arial"/>
              </a:rPr>
              <a:t>PLACEHOLDER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8DD72A-C275-41C5-BB6B-4DAB2550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526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A1716"/>
                </a:solidFill>
                <a:latin typeface="Arial"/>
                <a:ea typeface="Arial"/>
                <a:cs typeface="Arial"/>
              </a:rPr>
              <a:t>Pranav Patil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1B7B04-2B37-4966-95AA-7AEDA17DA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717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Major contributions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6E8738-95CF-4B29-87C7-E63517FD7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479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A1716"/>
                </a:solidFill>
                <a:latin typeface="Arial"/>
                <a:ea typeface="Arial"/>
                <a:cs typeface="Arial"/>
              </a:rPr>
              <a:t>[To be confirmed]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398E08-E602-4DFF-B5FD-5AA2E1226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337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Partial contributions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C144F0-AD57-4EEA-ADCD-2F405A19E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100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A1716"/>
                </a:solidFill>
                <a:latin typeface="Arial"/>
                <a:ea typeface="Arial"/>
                <a:cs typeface="Arial"/>
              </a:rPr>
              <a:t>[To be confirmed]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CF754B-F02C-462C-8753-4BDD1357C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5854"/>
                </a:solidFill>
                <a:latin typeface="Arial"/>
                <a:ea typeface="Arial"/>
                <a:cs typeface="Arial"/>
              </a:rPr>
              <a:t>Grocers Project  |  Team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460702-A6CC-404D-B4F1-F8921AAEE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5854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044421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2026-09-23T13:32:49.0760000Z</dcterms:created>
  <dcterms:modified xsi:type="dcterms:W3CDTF">2026-09-23T13:32:49.0760000Z</dcterms:modified>
</coreProperties>
</file>